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Extenda 40 Hecto" charset="1" panose="020B0003020200000002"/>
      <p:regular r:id="rId25"/>
    </p:embeddedFont>
    <p:embeddedFont>
      <p:font typeface="Bricolage Grotesque 36 Condensed Bold" charset="1" panose="020B0605040402000204"/>
      <p:regular r:id="rId26"/>
    </p:embeddedFont>
    <p:embeddedFont>
      <p:font typeface="Bricolage Grotesque 36 Condensed" charset="1" panose="020B0605040402000204"/>
      <p:regular r:id="rId27"/>
    </p:embeddedFont>
    <p:embeddedFont>
      <p:font typeface="Bricolage Grotesque 36 Condensed Extra-Light" charset="1" panose="020B0605040402000204"/>
      <p:regular r:id="rId28"/>
    </p:embeddedFont>
    <p:embeddedFont>
      <p:font typeface="Brick Sans" charset="1" panose="00000000000000000000"/>
      <p:regular r:id="rId29"/>
    </p:embeddedFont>
    <p:embeddedFont>
      <p:font typeface="Times New Roman Bold" charset="1" panose="02020803070505020304"/>
      <p:regular r:id="rId30"/>
    </p:embeddedFont>
    <p:embeddedFont>
      <p:font typeface="Times New Roman" charset="1" panose="02020603050405020304"/>
      <p:regular r:id="rId31"/>
    </p:embeddedFont>
    <p:embeddedFont>
      <p:font typeface="Comic Sans Bold" charset="1" panose="03000902030302020204"/>
      <p:regular r:id="rId32"/>
    </p:embeddedFont>
    <p:embeddedFont>
      <p:font typeface="Arimo" charset="1" panose="020B0604020202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5.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https://vi.wikipedia.org/wiki/Zalo"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6.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embeddings/oleObject1.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embeddings/oleObject2.bin" Type="http://schemas.openxmlformats.org/officeDocument/2006/relationships/oleObjec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https://memoryzone.com.vn/discord-la-gi?srsltid=AU7gw4WfpaMqafvm1r5DtWADBKcQb9N8fl0kwQX0SwFVzLzG-7yEODwN"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3.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7933190" y="3932690"/>
            <a:ext cx="2421621" cy="2421621"/>
          </a:xfrm>
          <a:custGeom>
            <a:avLst/>
            <a:gdLst/>
            <a:ahLst/>
            <a:cxnLst/>
            <a:rect r="r" b="b" t="t" l="l"/>
            <a:pathLst>
              <a:path h="2421621" w="2421621">
                <a:moveTo>
                  <a:pt x="0" y="0"/>
                </a:moveTo>
                <a:lnTo>
                  <a:pt x="2421620" y="0"/>
                </a:lnTo>
                <a:lnTo>
                  <a:pt x="2421620" y="2421620"/>
                </a:lnTo>
                <a:lnTo>
                  <a:pt x="0" y="2421620"/>
                </a:lnTo>
                <a:lnTo>
                  <a:pt x="0" y="0"/>
                </a:lnTo>
                <a:close/>
              </a:path>
            </a:pathLst>
          </a:custGeom>
          <a:blipFill>
            <a:blip r:embed="rId2"/>
            <a:stretch>
              <a:fillRect l="0" t="0" r="0" b="0"/>
            </a:stretch>
          </a:blipFill>
        </p:spPr>
      </p:sp>
      <p:sp>
        <p:nvSpPr>
          <p:cNvPr name="Freeform 3" id="3"/>
          <p:cNvSpPr/>
          <p:nvPr/>
        </p:nvSpPr>
        <p:spPr>
          <a:xfrm flipH="false" flipV="false" rot="0">
            <a:off x="7666738" y="7137833"/>
            <a:ext cx="2954525" cy="2954525"/>
          </a:xfrm>
          <a:custGeom>
            <a:avLst/>
            <a:gdLst/>
            <a:ahLst/>
            <a:cxnLst/>
            <a:rect r="r" b="b" t="t" l="l"/>
            <a:pathLst>
              <a:path h="2954525" w="2954525">
                <a:moveTo>
                  <a:pt x="0" y="0"/>
                </a:moveTo>
                <a:lnTo>
                  <a:pt x="2954524" y="0"/>
                </a:lnTo>
                <a:lnTo>
                  <a:pt x="2954524" y="2954525"/>
                </a:lnTo>
                <a:lnTo>
                  <a:pt x="0" y="2954525"/>
                </a:lnTo>
                <a:lnTo>
                  <a:pt x="0" y="0"/>
                </a:lnTo>
                <a:close/>
              </a:path>
            </a:pathLst>
          </a:custGeom>
          <a:blipFill>
            <a:blip r:embed="rId3"/>
            <a:stretch>
              <a:fillRect l="0" t="0" r="0" b="0"/>
            </a:stretch>
          </a:blipFill>
        </p:spPr>
      </p:sp>
      <p:sp>
        <p:nvSpPr>
          <p:cNvPr name="Freeform 4" id="4"/>
          <p:cNvSpPr/>
          <p:nvPr/>
        </p:nvSpPr>
        <p:spPr>
          <a:xfrm flipH="false" flipV="false" rot="-10800000">
            <a:off x="13928529" y="4678430"/>
            <a:ext cx="4655113" cy="5608570"/>
          </a:xfrm>
          <a:custGeom>
            <a:avLst/>
            <a:gdLst/>
            <a:ahLst/>
            <a:cxnLst/>
            <a:rect r="r" b="b" t="t" l="l"/>
            <a:pathLst>
              <a:path h="5608570" w="4655113">
                <a:moveTo>
                  <a:pt x="0" y="0"/>
                </a:moveTo>
                <a:lnTo>
                  <a:pt x="4655113" y="0"/>
                </a:lnTo>
                <a:lnTo>
                  <a:pt x="4655113" y="5608570"/>
                </a:lnTo>
                <a:lnTo>
                  <a:pt x="0" y="5608570"/>
                </a:lnTo>
                <a:lnTo>
                  <a:pt x="0" y="0"/>
                </a:lnTo>
                <a:close/>
              </a:path>
            </a:pathLst>
          </a:custGeom>
          <a:blipFill>
            <a:blip r:embed="rId4"/>
            <a:stretch>
              <a:fillRect l="0" t="0" r="0" b="0"/>
            </a:stretch>
          </a:blipFill>
        </p:spPr>
      </p:sp>
      <p:sp>
        <p:nvSpPr>
          <p:cNvPr name="Freeform 5" id="5"/>
          <p:cNvSpPr/>
          <p:nvPr/>
        </p:nvSpPr>
        <p:spPr>
          <a:xfrm flipH="false" flipV="false" rot="0">
            <a:off x="0" y="0"/>
            <a:ext cx="4655113" cy="5608570"/>
          </a:xfrm>
          <a:custGeom>
            <a:avLst/>
            <a:gdLst/>
            <a:ahLst/>
            <a:cxnLst/>
            <a:rect r="r" b="b" t="t" l="l"/>
            <a:pathLst>
              <a:path h="5608570" w="4655113">
                <a:moveTo>
                  <a:pt x="0" y="0"/>
                </a:moveTo>
                <a:lnTo>
                  <a:pt x="4655113" y="0"/>
                </a:lnTo>
                <a:lnTo>
                  <a:pt x="4655113" y="5608570"/>
                </a:lnTo>
                <a:lnTo>
                  <a:pt x="0" y="5608570"/>
                </a:lnTo>
                <a:lnTo>
                  <a:pt x="0" y="0"/>
                </a:lnTo>
                <a:close/>
              </a:path>
            </a:pathLst>
          </a:custGeom>
          <a:blipFill>
            <a:blip r:embed="rId4"/>
            <a:stretch>
              <a:fillRect l="0" t="0" r="0" b="0"/>
            </a:stretch>
          </a:blipFill>
        </p:spPr>
      </p:sp>
      <p:sp>
        <p:nvSpPr>
          <p:cNvPr name="Freeform 6" id="6"/>
          <p:cNvSpPr/>
          <p:nvPr/>
        </p:nvSpPr>
        <p:spPr>
          <a:xfrm flipH="false" flipV="false" rot="0">
            <a:off x="4558414" y="-185101"/>
            <a:ext cx="13542620" cy="527494"/>
          </a:xfrm>
          <a:custGeom>
            <a:avLst/>
            <a:gdLst/>
            <a:ahLst/>
            <a:cxnLst/>
            <a:rect r="r" b="b" t="t" l="l"/>
            <a:pathLst>
              <a:path h="527494" w="13542620">
                <a:moveTo>
                  <a:pt x="0" y="0"/>
                </a:moveTo>
                <a:lnTo>
                  <a:pt x="13542620" y="0"/>
                </a:lnTo>
                <a:lnTo>
                  <a:pt x="13542620" y="527494"/>
                </a:lnTo>
                <a:lnTo>
                  <a:pt x="0" y="527494"/>
                </a:lnTo>
                <a:lnTo>
                  <a:pt x="0" y="0"/>
                </a:lnTo>
                <a:close/>
              </a:path>
            </a:pathLst>
          </a:custGeom>
          <a:blipFill>
            <a:blip r:embed="rId5"/>
            <a:stretch>
              <a:fillRect l="-19848" t="0" r="0" b="-100000"/>
            </a:stretch>
          </a:blipFill>
        </p:spPr>
      </p:sp>
      <p:sp>
        <p:nvSpPr>
          <p:cNvPr name="TextBox 7" id="7"/>
          <p:cNvSpPr txBox="true"/>
          <p:nvPr/>
        </p:nvSpPr>
        <p:spPr>
          <a:xfrm rot="0">
            <a:off x="186966" y="123318"/>
            <a:ext cx="17914069" cy="3809371"/>
          </a:xfrm>
          <a:prstGeom prst="rect">
            <a:avLst/>
          </a:prstGeom>
        </p:spPr>
        <p:txBody>
          <a:bodyPr anchor="t" rtlCol="false" tIns="0" lIns="0" bIns="0" rIns="0">
            <a:spAutoFit/>
          </a:bodyPr>
          <a:lstStyle/>
          <a:p>
            <a:pPr algn="ctr">
              <a:lnSpc>
                <a:spcPts val="15259"/>
              </a:lnSpc>
            </a:pPr>
            <a:r>
              <a:rPr lang="en-US" sz="10899" spc="-108">
                <a:solidFill>
                  <a:srgbClr val="225BA8"/>
                </a:solidFill>
                <a:latin typeface="Extenda 40 Hecto"/>
                <a:ea typeface="Extenda 40 Hecto"/>
                <a:cs typeface="Extenda 40 Hecto"/>
                <a:sym typeface="Extenda 40 Hecto"/>
              </a:rPr>
              <a:t>GIAO TIẾP TRỰC TUYẾN </a:t>
            </a:r>
          </a:p>
          <a:p>
            <a:pPr algn="ctr">
              <a:lnSpc>
                <a:spcPts val="15259"/>
              </a:lnSpc>
            </a:pPr>
            <a:r>
              <a:rPr lang="en-US" sz="10899" spc="-108">
                <a:solidFill>
                  <a:srgbClr val="225BA8"/>
                </a:solidFill>
                <a:latin typeface="Extenda 40 Hecto"/>
                <a:ea typeface="Extenda 40 Hecto"/>
                <a:cs typeface="Extenda 40 Hecto"/>
                <a:sym typeface="Extenda 40 Hecto"/>
              </a:rPr>
              <a:t>(</a:t>
            </a:r>
            <a:r>
              <a:rPr lang="en-US" sz="10899" spc="-108">
                <a:solidFill>
                  <a:srgbClr val="14AFEE"/>
                </a:solidFill>
                <a:latin typeface="Extenda 40 Hecto"/>
                <a:ea typeface="Extenda 40 Hecto"/>
                <a:cs typeface="Extenda 40 Hecto"/>
                <a:sym typeface="Extenda 40 Hecto"/>
              </a:rPr>
              <a:t>ZALO</a:t>
            </a:r>
            <a:r>
              <a:rPr lang="en-US" sz="10899" spc="-108">
                <a:solidFill>
                  <a:srgbClr val="225BA8"/>
                </a:solidFill>
                <a:latin typeface="Extenda 40 Hecto"/>
                <a:ea typeface="Extenda 40 Hecto"/>
                <a:cs typeface="Extenda 40 Hecto"/>
                <a:sym typeface="Extenda 40 Hecto"/>
              </a:rPr>
              <a:t>, </a:t>
            </a:r>
            <a:r>
              <a:rPr lang="en-US" sz="10899" spc="-108">
                <a:solidFill>
                  <a:srgbClr val="5E17EB"/>
                </a:solidFill>
                <a:latin typeface="Extenda 40 Hecto"/>
                <a:ea typeface="Extenda 40 Hecto"/>
                <a:cs typeface="Extenda 40 Hecto"/>
                <a:sym typeface="Extenda 40 Hecto"/>
              </a:rPr>
              <a:t>DISCORD </a:t>
            </a:r>
            <a:r>
              <a:rPr lang="en-US" sz="10899" spc="-108">
                <a:solidFill>
                  <a:srgbClr val="225BA8"/>
                </a:solidFill>
                <a:latin typeface="Extenda 40 Hecto"/>
                <a:ea typeface="Extenda 40 Hecto"/>
                <a:cs typeface="Extenda 40 Hecto"/>
                <a:sym typeface="Extenda 40 Hecto"/>
              </a:rPr>
              <a:t>VÀ </a:t>
            </a:r>
            <a:r>
              <a:rPr lang="en-US" sz="10899" spc="-108">
                <a:gradFill>
                  <a:gsLst>
                    <a:gs pos="0">
                      <a:srgbClr val="5170FF">
                        <a:alpha val="100000"/>
                      </a:srgbClr>
                    </a:gs>
                    <a:gs pos="100000">
                      <a:srgbClr val="FF66C4">
                        <a:alpha val="100000"/>
                      </a:srgbClr>
                    </a:gs>
                  </a:gsLst>
                  <a:lin ang="0"/>
                </a:gradFill>
                <a:latin typeface="Extenda 40 Hecto"/>
                <a:ea typeface="Extenda 40 Hecto"/>
                <a:cs typeface="Extenda 40 Hecto"/>
                <a:sym typeface="Extenda 40 Hecto"/>
              </a:rPr>
              <a:t>MESSENGER</a:t>
            </a:r>
            <a:r>
              <a:rPr lang="en-US" sz="10899" spc="-108">
                <a:solidFill>
                  <a:srgbClr val="225BA8"/>
                </a:solidFill>
                <a:latin typeface="Extenda 40 Hecto"/>
                <a:ea typeface="Extenda 40 Hecto"/>
                <a:cs typeface="Extenda 40 Hecto"/>
                <a:sym typeface="Extenda 40 Hecto"/>
              </a:rPr>
              <a:t>)</a:t>
            </a:r>
          </a:p>
        </p:txBody>
      </p:sp>
      <p:sp>
        <p:nvSpPr>
          <p:cNvPr name="TextBox 8" id="8"/>
          <p:cNvSpPr txBox="true"/>
          <p:nvPr/>
        </p:nvSpPr>
        <p:spPr>
          <a:xfrm rot="0">
            <a:off x="7178871" y="6529297"/>
            <a:ext cx="3930258" cy="695961"/>
          </a:xfrm>
          <a:prstGeom prst="rect">
            <a:avLst/>
          </a:prstGeom>
        </p:spPr>
        <p:txBody>
          <a:bodyPr anchor="t" rtlCol="false" tIns="0" lIns="0" bIns="0" rIns="0">
            <a:spAutoFit/>
          </a:bodyPr>
          <a:lstStyle/>
          <a:p>
            <a:pPr algn="ctr">
              <a:lnSpc>
                <a:spcPts val="5739"/>
              </a:lnSpc>
            </a:pPr>
            <a:r>
              <a:rPr lang="en-US" b="true" sz="4099" spc="-40">
                <a:solidFill>
                  <a:srgbClr val="000000"/>
                </a:solidFill>
                <a:latin typeface="Bricolage Grotesque 36 Condensed Bold"/>
                <a:ea typeface="Bricolage Grotesque 36 Condensed Bold"/>
                <a:cs typeface="Bricolage Grotesque 36 Condensed Bold"/>
                <a:sym typeface="Bricolage Grotesque 36 Condensed Bold"/>
              </a:rPr>
              <a:t>Nền tảng công nghệ số</a:t>
            </a:r>
          </a:p>
        </p:txBody>
      </p:sp>
      <p:sp>
        <p:nvSpPr>
          <p:cNvPr name="Freeform 9" id="9"/>
          <p:cNvSpPr/>
          <p:nvPr/>
        </p:nvSpPr>
        <p:spPr>
          <a:xfrm flipH="false" flipV="false" rot="0">
            <a:off x="0" y="9759506"/>
            <a:ext cx="13542620" cy="527494"/>
          </a:xfrm>
          <a:custGeom>
            <a:avLst/>
            <a:gdLst/>
            <a:ahLst/>
            <a:cxnLst/>
            <a:rect r="r" b="b" t="t" l="l"/>
            <a:pathLst>
              <a:path h="527494" w="13542620">
                <a:moveTo>
                  <a:pt x="0" y="0"/>
                </a:moveTo>
                <a:lnTo>
                  <a:pt x="13542620" y="0"/>
                </a:lnTo>
                <a:lnTo>
                  <a:pt x="13542620" y="527494"/>
                </a:lnTo>
                <a:lnTo>
                  <a:pt x="0" y="527494"/>
                </a:lnTo>
                <a:lnTo>
                  <a:pt x="0" y="0"/>
                </a:lnTo>
                <a:close/>
              </a:path>
            </a:pathLst>
          </a:custGeom>
          <a:blipFill>
            <a:blip r:embed="rId5"/>
            <a:stretch>
              <a:fillRect l="-19848" t="0" r="0" b="-100000"/>
            </a:stretch>
          </a:blipFill>
        </p:spPr>
      </p:sp>
      <p:sp>
        <p:nvSpPr>
          <p:cNvPr name="Freeform 10" id="10"/>
          <p:cNvSpPr/>
          <p:nvPr/>
        </p:nvSpPr>
        <p:spPr>
          <a:xfrm flipH="false" flipV="false" rot="0">
            <a:off x="1743088" y="6605497"/>
            <a:ext cx="2912025" cy="2912025"/>
          </a:xfrm>
          <a:custGeom>
            <a:avLst/>
            <a:gdLst/>
            <a:ahLst/>
            <a:cxnLst/>
            <a:rect r="r" b="b" t="t" l="l"/>
            <a:pathLst>
              <a:path h="2912025" w="2912025">
                <a:moveTo>
                  <a:pt x="0" y="0"/>
                </a:moveTo>
                <a:lnTo>
                  <a:pt x="2912025" y="0"/>
                </a:lnTo>
                <a:lnTo>
                  <a:pt x="2912025" y="2912026"/>
                </a:lnTo>
                <a:lnTo>
                  <a:pt x="0" y="2912026"/>
                </a:lnTo>
                <a:lnTo>
                  <a:pt x="0" y="0"/>
                </a:lnTo>
                <a:close/>
              </a:path>
            </a:pathLst>
          </a:custGeom>
          <a:blipFill>
            <a:blip r:embed="rId6"/>
            <a:stretch>
              <a:fillRect l="0" t="0" r="0" b="0"/>
            </a:stretch>
          </a:blipFill>
        </p:spPr>
      </p:sp>
      <p:sp>
        <p:nvSpPr>
          <p:cNvPr name="Freeform 11" id="11"/>
          <p:cNvSpPr/>
          <p:nvPr/>
        </p:nvSpPr>
        <p:spPr>
          <a:xfrm flipH="false" flipV="false" rot="0">
            <a:off x="13928529" y="6463854"/>
            <a:ext cx="3053669" cy="3053669"/>
          </a:xfrm>
          <a:custGeom>
            <a:avLst/>
            <a:gdLst/>
            <a:ahLst/>
            <a:cxnLst/>
            <a:rect r="r" b="b" t="t" l="l"/>
            <a:pathLst>
              <a:path h="3053669" w="3053669">
                <a:moveTo>
                  <a:pt x="0" y="0"/>
                </a:moveTo>
                <a:lnTo>
                  <a:pt x="3053669" y="0"/>
                </a:lnTo>
                <a:lnTo>
                  <a:pt x="3053669" y="3053669"/>
                </a:lnTo>
                <a:lnTo>
                  <a:pt x="0" y="3053669"/>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7289800" y="258763"/>
            <a:ext cx="3708400" cy="1377949"/>
          </a:xfrm>
          <a:prstGeom prst="rect">
            <a:avLst/>
          </a:prstGeom>
        </p:spPr>
        <p:txBody>
          <a:bodyPr anchor="t" rtlCol="false" tIns="0" lIns="0" bIns="0" rIns="0">
            <a:spAutoFit/>
          </a:bodyPr>
          <a:lstStyle/>
          <a:p>
            <a:pPr algn="l">
              <a:lnSpc>
                <a:spcPts val="11200"/>
              </a:lnSpc>
              <a:spcBef>
                <a:spcPct val="0"/>
              </a:spcBef>
            </a:pPr>
            <a:r>
              <a:rPr lang="en-US" b="true" sz="8000" spc="-200">
                <a:solidFill>
                  <a:srgbClr val="000000"/>
                </a:solidFill>
                <a:latin typeface="Bricolage Grotesque 36 Condensed Bold"/>
                <a:ea typeface="Bricolage Grotesque 36 Condensed Bold"/>
                <a:cs typeface="Bricolage Grotesque 36 Condensed Bold"/>
                <a:sym typeface="Bricolage Grotesque 36 Condensed Bold"/>
              </a:rPr>
              <a:t>THÀNH VIÊN</a:t>
            </a:r>
          </a:p>
        </p:txBody>
      </p:sp>
      <p:sp>
        <p:nvSpPr>
          <p:cNvPr name="TextBox 3" id="3"/>
          <p:cNvSpPr txBox="true"/>
          <p:nvPr/>
        </p:nvSpPr>
        <p:spPr>
          <a:xfrm rot="0">
            <a:off x="1531540" y="2640040"/>
            <a:ext cx="11053267" cy="4216399"/>
          </a:xfrm>
          <a:prstGeom prst="rect">
            <a:avLst/>
          </a:prstGeom>
        </p:spPr>
        <p:txBody>
          <a:bodyPr anchor="t" rtlCol="false" tIns="0" lIns="0" bIns="0" rIns="0">
            <a:spAutoFit/>
          </a:bodyPr>
          <a:lstStyle/>
          <a:p>
            <a:pPr algn="l">
              <a:lnSpc>
                <a:spcPts val="11200"/>
              </a:lnSpc>
              <a:spcBef>
                <a:spcPct val="0"/>
              </a:spcBef>
            </a:pPr>
            <a:r>
              <a:rPr lang="en-US" sz="8000" spc="-200">
                <a:solidFill>
                  <a:srgbClr val="000000"/>
                </a:solidFill>
                <a:latin typeface="Bricolage Grotesque 36 Condensed"/>
                <a:ea typeface="Bricolage Grotesque 36 Condensed"/>
                <a:cs typeface="Bricolage Grotesque 36 Condensed"/>
                <a:sym typeface="Bricolage Grotesque 36 Condensed"/>
              </a:rPr>
              <a:t>B2605814: </a:t>
            </a:r>
            <a:r>
              <a:rPr lang="en-US" b="true" sz="8000" spc="-200">
                <a:solidFill>
                  <a:srgbClr val="000000"/>
                </a:solidFill>
                <a:latin typeface="Bricolage Grotesque 36 Condensed Bold"/>
                <a:ea typeface="Bricolage Grotesque 36 Condensed Bold"/>
                <a:cs typeface="Bricolage Grotesque 36 Condensed Bold"/>
                <a:sym typeface="Bricolage Grotesque 36 Condensed Bold"/>
              </a:rPr>
              <a:t>  LÂM</a:t>
            </a:r>
            <a:r>
              <a:rPr lang="en-US" b="true" sz="8000" spc="-200">
                <a:solidFill>
                  <a:srgbClr val="000000"/>
                </a:solidFill>
                <a:latin typeface="Bricolage Grotesque 36 Condensed Bold"/>
                <a:ea typeface="Bricolage Grotesque 36 Condensed Bold"/>
                <a:cs typeface="Bricolage Grotesque 36 Condensed Bold"/>
                <a:sym typeface="Bricolage Grotesque 36 Condensed Bold"/>
              </a:rPr>
              <a:t> NGUYỄN QUỐC MINH</a:t>
            </a:r>
          </a:p>
          <a:p>
            <a:pPr algn="l">
              <a:lnSpc>
                <a:spcPts val="11200"/>
              </a:lnSpc>
              <a:spcBef>
                <a:spcPct val="0"/>
              </a:spcBef>
            </a:pPr>
            <a:r>
              <a:rPr lang="en-US" sz="8000" spc="-200">
                <a:solidFill>
                  <a:srgbClr val="000000"/>
                </a:solidFill>
                <a:latin typeface="Bricolage Grotesque 36 Condensed"/>
                <a:ea typeface="Bricolage Grotesque 36 Condensed"/>
                <a:cs typeface="Bricolage Grotesque 36 Condensed"/>
                <a:sym typeface="Bricolage Grotesque 36 Condensed"/>
              </a:rPr>
              <a:t>B2605813:  </a:t>
            </a:r>
            <a:r>
              <a:rPr lang="en-US" b="true" sz="8000" spc="-200">
                <a:solidFill>
                  <a:srgbClr val="000000"/>
                </a:solidFill>
                <a:latin typeface="Bricolage Grotesque 36 Condensed Bold"/>
                <a:ea typeface="Bricolage Grotesque 36 Condensed Bold"/>
                <a:cs typeface="Bricolage Grotesque 36 Condensed Bold"/>
                <a:sym typeface="Bricolage Grotesque 36 Condensed Bold"/>
              </a:rPr>
              <a:t> NGUYỄN VŨ LUÂN               </a:t>
            </a:r>
          </a:p>
          <a:p>
            <a:pPr algn="l">
              <a:lnSpc>
                <a:spcPts val="11200"/>
              </a:lnSpc>
              <a:spcBef>
                <a:spcPct val="0"/>
              </a:spcBef>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10408749" y="730015"/>
            <a:ext cx="6850551" cy="8528285"/>
          </a:xfrm>
          <a:custGeom>
            <a:avLst/>
            <a:gdLst/>
            <a:ahLst/>
            <a:cxnLst/>
            <a:rect r="r" b="b" t="t" l="l"/>
            <a:pathLst>
              <a:path h="8528285" w="6850551">
                <a:moveTo>
                  <a:pt x="0" y="0"/>
                </a:moveTo>
                <a:lnTo>
                  <a:pt x="6850551" y="0"/>
                </a:lnTo>
                <a:lnTo>
                  <a:pt x="6850551" y="8528285"/>
                </a:lnTo>
                <a:lnTo>
                  <a:pt x="0" y="8528285"/>
                </a:lnTo>
                <a:lnTo>
                  <a:pt x="0" y="0"/>
                </a:lnTo>
                <a:close/>
              </a:path>
            </a:pathLst>
          </a:custGeom>
          <a:blipFill>
            <a:blip r:embed="rId2"/>
            <a:stretch>
              <a:fillRect l="-91613" t="-1306" r="0" b="-1306"/>
            </a:stretch>
          </a:blipFill>
        </p:spPr>
      </p:sp>
      <p:sp>
        <p:nvSpPr>
          <p:cNvPr name="Freeform 3" id="3"/>
          <p:cNvSpPr/>
          <p:nvPr/>
        </p:nvSpPr>
        <p:spPr>
          <a:xfrm flipH="false" flipV="false" rot="0">
            <a:off x="14963132" y="730015"/>
            <a:ext cx="2159311" cy="2159311"/>
          </a:xfrm>
          <a:custGeom>
            <a:avLst/>
            <a:gdLst/>
            <a:ahLst/>
            <a:cxnLst/>
            <a:rect r="r" b="b" t="t" l="l"/>
            <a:pathLst>
              <a:path h="2159311" w="2159311">
                <a:moveTo>
                  <a:pt x="0" y="0"/>
                </a:moveTo>
                <a:lnTo>
                  <a:pt x="2159311" y="0"/>
                </a:lnTo>
                <a:lnTo>
                  <a:pt x="2159311" y="2159311"/>
                </a:lnTo>
                <a:lnTo>
                  <a:pt x="0" y="2159311"/>
                </a:lnTo>
                <a:lnTo>
                  <a:pt x="0" y="0"/>
                </a:lnTo>
                <a:close/>
              </a:path>
            </a:pathLst>
          </a:custGeom>
          <a:blipFill>
            <a:blip r:embed="rId3"/>
            <a:stretch>
              <a:fillRect l="0" t="0" r="0" b="0"/>
            </a:stretch>
          </a:blipFill>
        </p:spPr>
      </p:sp>
      <p:sp>
        <p:nvSpPr>
          <p:cNvPr name="TextBox 4" id="4"/>
          <p:cNvSpPr txBox="true"/>
          <p:nvPr/>
        </p:nvSpPr>
        <p:spPr>
          <a:xfrm rot="0">
            <a:off x="373931" y="404548"/>
            <a:ext cx="7778840" cy="4867275"/>
          </a:xfrm>
          <a:prstGeom prst="rect">
            <a:avLst/>
          </a:prstGeom>
        </p:spPr>
        <p:txBody>
          <a:bodyPr anchor="t" rtlCol="false" tIns="0" lIns="0" bIns="0" rIns="0">
            <a:spAutoFit/>
          </a:bodyPr>
          <a:lstStyle/>
          <a:p>
            <a:pPr algn="l">
              <a:lnSpc>
                <a:spcPts val="12600"/>
              </a:lnSpc>
            </a:pPr>
            <a:r>
              <a:rPr lang="en-US" b="true" sz="12000" spc="-60" u="sng">
                <a:solidFill>
                  <a:srgbClr val="000000"/>
                </a:solidFill>
                <a:latin typeface="Bricolage Grotesque 36 Condensed Bold"/>
                <a:ea typeface="Bricolage Grotesque 36 Condensed Bold"/>
                <a:cs typeface="Bricolage Grotesque 36 Condensed Bold"/>
                <a:sym typeface="Bricolage Grotesque 36 Condensed Bold"/>
              </a:rPr>
              <a:t>MỞ ĐẦU</a:t>
            </a:r>
            <a:r>
              <a:rPr lang="en-US" b="true" sz="12000" spc="-60">
                <a:solidFill>
                  <a:srgbClr val="000000"/>
                </a:solidFill>
                <a:latin typeface="Bricolage Grotesque 36 Condensed Bold"/>
                <a:ea typeface="Bricolage Grotesque 36 Condensed Bold"/>
                <a:cs typeface="Bricolage Grotesque 36 Condensed Bold"/>
                <a:sym typeface="Bricolage Grotesque 36 Condensed Bold"/>
              </a:rPr>
              <a:t>: </a:t>
            </a:r>
            <a:r>
              <a:rPr lang="en-US" sz="12000" spc="-60">
                <a:solidFill>
                  <a:srgbClr val="000000"/>
                </a:solidFill>
                <a:latin typeface="Bricolage Grotesque 36 Condensed"/>
                <a:ea typeface="Bricolage Grotesque 36 Condensed"/>
                <a:cs typeface="Bricolage Grotesque 36 Condensed"/>
                <a:sym typeface="Bricolage Grotesque 36 Condensed"/>
              </a:rPr>
              <a:t>LÝ DO CHỌN ĐỀ TÀI</a:t>
            </a:r>
          </a:p>
          <a:p>
            <a:pPr algn="l">
              <a:lnSpc>
                <a:spcPts val="12600"/>
              </a:lnSpc>
            </a:pPr>
          </a:p>
        </p:txBody>
      </p:sp>
      <p:sp>
        <p:nvSpPr>
          <p:cNvPr name="TextBox 5" id="5"/>
          <p:cNvSpPr txBox="true"/>
          <p:nvPr/>
        </p:nvSpPr>
        <p:spPr>
          <a:xfrm rot="0">
            <a:off x="373931" y="3498362"/>
            <a:ext cx="8823777" cy="6497550"/>
          </a:xfrm>
          <a:prstGeom prst="rect">
            <a:avLst/>
          </a:prstGeom>
        </p:spPr>
        <p:txBody>
          <a:bodyPr anchor="t" rtlCol="false" tIns="0" lIns="0" bIns="0" rIns="0">
            <a:spAutoFit/>
          </a:bodyPr>
          <a:lstStyle/>
          <a:p>
            <a:pPr algn="l">
              <a:lnSpc>
                <a:spcPts val="4536"/>
              </a:lnSpc>
              <a:spcBef>
                <a:spcPct val="0"/>
              </a:spcBef>
            </a:pPr>
            <a:r>
              <a:rPr lang="en-US" sz="3240" spc="-32">
                <a:solidFill>
                  <a:srgbClr val="000000"/>
                </a:solidFill>
                <a:latin typeface="Bricolage Grotesque 36 Condensed Extra-Light"/>
                <a:ea typeface="Bricolage Grotesque 36 Condensed Extra-Light"/>
                <a:cs typeface="Bricolage Grotesque 36 Condensed Extra-Light"/>
                <a:sym typeface="Bricolage Grotesque 36 Condensed Extra-Light"/>
              </a:rPr>
              <a:t>Trong đời sống khi mà các công nghệ g</a:t>
            </a:r>
            <a:r>
              <a:rPr lang="en-US" sz="3240" spc="-32">
                <a:solidFill>
                  <a:srgbClr val="000000"/>
                </a:solidFill>
                <a:latin typeface="Bricolage Grotesque 36 Condensed Extra-Light"/>
                <a:ea typeface="Bricolage Grotesque 36 Condensed Extra-Light"/>
                <a:cs typeface="Bricolage Grotesque 36 Condensed Extra-Light"/>
                <a:sym typeface="Bricolage Grotesque 36 Condensed Extra-Light"/>
              </a:rPr>
              <a:t>iao tiếp ngày càng phát triển, các ứng dụng nhắn tin và gọi video call giúp chúng ta trao đổi thông tin nhanh gọn, duy trì các mối quan hệ, học tập từ xa và thuận tiện công việc. Tuy nhiên, mỗi nền tảng được thiết kế theo định hướng khác nhau: có ứng dụng phổ biến trong liên lạc hằng ngày tại Việt Nam, có ứng dụng gắn chặt với mạng xã hội, và có ứng dụng nổi bật ở cộng đồng trực tuyến, trò chuyện thoại và chơi game.</a:t>
            </a:r>
          </a:p>
          <a:p>
            <a:pPr algn="l">
              <a:lnSpc>
                <a:spcPts val="4536"/>
              </a:lnSpc>
              <a:spcBef>
                <a:spcPct val="0"/>
              </a:spcBef>
            </a:pPr>
          </a:p>
          <a:p>
            <a:pPr algn="l">
              <a:lnSpc>
                <a:spcPts val="4536"/>
              </a:lnSpc>
              <a:spcBef>
                <a:spcPct val="0"/>
              </a:spcBef>
            </a:pPr>
            <a:r>
              <a:rPr lang="en-US" sz="3240" spc="-32">
                <a:solidFill>
                  <a:srgbClr val="000000"/>
                </a:solidFill>
                <a:latin typeface="Bricolage Grotesque 36 Condensed Extra-Light"/>
                <a:ea typeface="Bricolage Grotesque 36 Condensed Extra-Light"/>
                <a:cs typeface="Bricolage Grotesque 36 Condensed Extra-Light"/>
                <a:sym typeface="Bricolage Grotesque 36 Condensed Extra-Light"/>
              </a:rPr>
              <a:t>Báo cáo của chúng em (Vũ Luân và Quốc Minh) lựa chọn ba ứng dụng chúng em hay sài nhất là Zalo, Messenger và Discord để phân tích lịch sử, tính năng, ưu điểm, hạn chế và mức độ phù hợp trong các tình huống sử dụng. Việc so sánh giúp ta lựa chọn công cụ dựa trên mục đích, thay vì một ứng dụng duy nhất cho tất cả.</a:t>
            </a:r>
          </a:p>
          <a:p>
            <a:pPr algn="l">
              <a:lnSpc>
                <a:spcPts val="1597"/>
              </a:lnSpc>
              <a:spcBef>
                <a:spcPct val="0"/>
              </a:spcBef>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418657" y="5492749"/>
            <a:ext cx="17432497" cy="4794251"/>
          </a:xfrm>
          <a:prstGeom prst="rect">
            <a:avLst/>
          </a:prstGeom>
        </p:spPr>
        <p:txBody>
          <a:bodyPr anchor="t" rtlCol="false" tIns="0" lIns="0" bIns="0" rIns="0">
            <a:spAutoFit/>
          </a:bodyPr>
          <a:lstStyle/>
          <a:p>
            <a:pPr algn="l">
              <a:lnSpc>
                <a:spcPts val="39199"/>
              </a:lnSpc>
            </a:pPr>
            <a:r>
              <a:rPr lang="en-US" b="true" sz="27999" spc="-279">
                <a:solidFill>
                  <a:srgbClr val="000000"/>
                </a:solidFill>
                <a:latin typeface="Bricolage Grotesque 36 Condensed Bold"/>
                <a:ea typeface="Bricolage Grotesque 36 Condensed Bold"/>
                <a:cs typeface="Bricolage Grotesque 36 Condensed Bold"/>
                <a:sym typeface="Bricolage Grotesque 36 Condensed Bold"/>
              </a:rPr>
              <a:t>MỤC LỤC</a:t>
            </a:r>
          </a:p>
        </p:txBody>
      </p:sp>
      <p:sp>
        <p:nvSpPr>
          <p:cNvPr name="TextBox 3" id="3"/>
          <p:cNvSpPr txBox="true"/>
          <p:nvPr/>
        </p:nvSpPr>
        <p:spPr>
          <a:xfrm rot="0">
            <a:off x="418657" y="2035143"/>
            <a:ext cx="1476375" cy="1377949"/>
          </a:xfrm>
          <a:prstGeom prst="rect">
            <a:avLst/>
          </a:prstGeom>
        </p:spPr>
        <p:txBody>
          <a:bodyPr anchor="t" rtlCol="false" tIns="0" lIns="0" bIns="0" rIns="0">
            <a:spAutoFit/>
          </a:bodyPr>
          <a:lstStyle/>
          <a:p>
            <a:pPr algn="l">
              <a:lnSpc>
                <a:spcPts val="11200"/>
              </a:lnSpc>
              <a:spcBef>
                <a:spcPct val="0"/>
              </a:spcBef>
            </a:pPr>
            <a:r>
              <a:rPr lang="en-US" b="true" sz="8000" spc="-200">
                <a:solidFill>
                  <a:srgbClr val="2D2D2D"/>
                </a:solidFill>
                <a:latin typeface="Bricolage Grotesque 36 Condensed Bold"/>
                <a:ea typeface="Bricolage Grotesque 36 Condensed Bold"/>
                <a:cs typeface="Bricolage Grotesque 36 Condensed Bold"/>
                <a:sym typeface="Bricolage Grotesque 36 Condensed Bold"/>
              </a:rPr>
              <a:t>02</a:t>
            </a:r>
          </a:p>
        </p:txBody>
      </p:sp>
      <p:sp>
        <p:nvSpPr>
          <p:cNvPr name="TextBox 4" id="4"/>
          <p:cNvSpPr txBox="true"/>
          <p:nvPr/>
        </p:nvSpPr>
        <p:spPr>
          <a:xfrm rot="0">
            <a:off x="418657" y="258763"/>
            <a:ext cx="1571625" cy="1377949"/>
          </a:xfrm>
          <a:prstGeom prst="rect">
            <a:avLst/>
          </a:prstGeom>
        </p:spPr>
        <p:txBody>
          <a:bodyPr anchor="t" rtlCol="false" tIns="0" lIns="0" bIns="0" rIns="0">
            <a:spAutoFit/>
          </a:bodyPr>
          <a:lstStyle/>
          <a:p>
            <a:pPr algn="l">
              <a:lnSpc>
                <a:spcPts val="11200"/>
              </a:lnSpc>
              <a:spcBef>
                <a:spcPct val="0"/>
              </a:spcBef>
            </a:pPr>
            <a:r>
              <a:rPr lang="en-US" b="true" sz="8000" spc="-200">
                <a:solidFill>
                  <a:srgbClr val="2D2D2D"/>
                </a:solidFill>
                <a:latin typeface="Bricolage Grotesque 36 Condensed Bold"/>
                <a:ea typeface="Bricolage Grotesque 36 Condensed Bold"/>
                <a:cs typeface="Bricolage Grotesque 36 Condensed Bold"/>
                <a:sym typeface="Bricolage Grotesque 36 Condensed Bold"/>
              </a:rPr>
              <a:t>01</a:t>
            </a:r>
          </a:p>
        </p:txBody>
      </p:sp>
      <p:sp>
        <p:nvSpPr>
          <p:cNvPr name="TextBox 5" id="5"/>
          <p:cNvSpPr txBox="true"/>
          <p:nvPr/>
        </p:nvSpPr>
        <p:spPr>
          <a:xfrm rot="0">
            <a:off x="9699424" y="258763"/>
            <a:ext cx="1571625" cy="1377949"/>
          </a:xfrm>
          <a:prstGeom prst="rect">
            <a:avLst/>
          </a:prstGeom>
        </p:spPr>
        <p:txBody>
          <a:bodyPr anchor="t" rtlCol="false" tIns="0" lIns="0" bIns="0" rIns="0">
            <a:spAutoFit/>
          </a:bodyPr>
          <a:lstStyle/>
          <a:p>
            <a:pPr algn="l">
              <a:lnSpc>
                <a:spcPts val="11200"/>
              </a:lnSpc>
              <a:spcBef>
                <a:spcPct val="0"/>
              </a:spcBef>
            </a:pPr>
            <a:r>
              <a:rPr lang="en-US" b="true" sz="8000" spc="-200">
                <a:solidFill>
                  <a:srgbClr val="2D2D2D"/>
                </a:solidFill>
                <a:latin typeface="Bricolage Grotesque 36 Condensed Bold"/>
                <a:ea typeface="Bricolage Grotesque 36 Condensed Bold"/>
                <a:cs typeface="Bricolage Grotesque 36 Condensed Bold"/>
                <a:sym typeface="Bricolage Grotesque 36 Condensed Bold"/>
              </a:rPr>
              <a:t>03</a:t>
            </a:r>
          </a:p>
        </p:txBody>
      </p:sp>
      <p:sp>
        <p:nvSpPr>
          <p:cNvPr name="TextBox 6" id="6"/>
          <p:cNvSpPr txBox="true"/>
          <p:nvPr/>
        </p:nvSpPr>
        <p:spPr>
          <a:xfrm rot="0">
            <a:off x="9699424" y="2035143"/>
            <a:ext cx="1571625" cy="1377949"/>
          </a:xfrm>
          <a:prstGeom prst="rect">
            <a:avLst/>
          </a:prstGeom>
        </p:spPr>
        <p:txBody>
          <a:bodyPr anchor="t" rtlCol="false" tIns="0" lIns="0" bIns="0" rIns="0">
            <a:spAutoFit/>
          </a:bodyPr>
          <a:lstStyle/>
          <a:p>
            <a:pPr algn="l">
              <a:lnSpc>
                <a:spcPts val="11200"/>
              </a:lnSpc>
              <a:spcBef>
                <a:spcPct val="0"/>
              </a:spcBef>
            </a:pPr>
            <a:r>
              <a:rPr lang="en-US" b="true" sz="8000" spc="-200">
                <a:solidFill>
                  <a:srgbClr val="2D2D2D"/>
                </a:solidFill>
                <a:latin typeface="Bricolage Grotesque 36 Condensed Bold"/>
                <a:ea typeface="Bricolage Grotesque 36 Condensed Bold"/>
                <a:cs typeface="Bricolage Grotesque 36 Condensed Bold"/>
                <a:sym typeface="Bricolage Grotesque 36 Condensed Bold"/>
              </a:rPr>
              <a:t>04</a:t>
            </a:r>
          </a:p>
        </p:txBody>
      </p:sp>
      <p:sp>
        <p:nvSpPr>
          <p:cNvPr name="TextBox 7" id="7"/>
          <p:cNvSpPr txBox="true"/>
          <p:nvPr/>
        </p:nvSpPr>
        <p:spPr>
          <a:xfrm rot="0">
            <a:off x="1895032" y="-41752"/>
            <a:ext cx="5669282" cy="2934335"/>
          </a:xfrm>
          <a:prstGeom prst="rect">
            <a:avLst/>
          </a:prstGeom>
        </p:spPr>
        <p:txBody>
          <a:bodyPr anchor="t" rtlCol="false" tIns="0" lIns="0" bIns="0" rIns="0">
            <a:spAutoFit/>
          </a:bodyPr>
          <a:lstStyle/>
          <a:p>
            <a:pPr algn="l">
              <a:lnSpc>
                <a:spcPts val="7840"/>
              </a:lnSpc>
            </a:pPr>
            <a:r>
              <a:rPr lang="en-US" sz="5600" spc="-140">
                <a:solidFill>
                  <a:srgbClr val="2D2D2D"/>
                </a:solidFill>
                <a:latin typeface="Bricolage Grotesque 36 Condensed Extra-Light"/>
                <a:ea typeface="Bricolage Grotesque 36 Condensed Extra-Light"/>
                <a:cs typeface="Bricolage Grotesque 36 Condensed Extra-Light"/>
                <a:sym typeface="Bricolage Grotesque 36 Condensed Extra-Light"/>
              </a:rPr>
              <a:t>Sơ Lược Về Các Dịch Vụ / Ứng Dụng. </a:t>
            </a:r>
          </a:p>
          <a:p>
            <a:pPr algn="l">
              <a:lnSpc>
                <a:spcPts val="7840"/>
              </a:lnSpc>
              <a:spcBef>
                <a:spcPct val="0"/>
              </a:spcBef>
            </a:pPr>
          </a:p>
        </p:txBody>
      </p:sp>
      <p:sp>
        <p:nvSpPr>
          <p:cNvPr name="TextBox 8" id="8"/>
          <p:cNvSpPr txBox="true"/>
          <p:nvPr/>
        </p:nvSpPr>
        <p:spPr>
          <a:xfrm rot="0">
            <a:off x="11271049" y="-41752"/>
            <a:ext cx="6754689" cy="2934335"/>
          </a:xfrm>
          <a:prstGeom prst="rect">
            <a:avLst/>
          </a:prstGeom>
        </p:spPr>
        <p:txBody>
          <a:bodyPr anchor="t" rtlCol="false" tIns="0" lIns="0" bIns="0" rIns="0">
            <a:spAutoFit/>
          </a:bodyPr>
          <a:lstStyle/>
          <a:p>
            <a:pPr algn="l">
              <a:lnSpc>
                <a:spcPts val="7840"/>
              </a:lnSpc>
            </a:pPr>
            <a:r>
              <a:rPr lang="en-US" sz="5600" spc="-140">
                <a:solidFill>
                  <a:srgbClr val="2D2D2D"/>
                </a:solidFill>
                <a:latin typeface="Bricolage Grotesque 36 Condensed Extra-Light"/>
                <a:ea typeface="Bricolage Grotesque 36 Condensed Extra-Light"/>
                <a:cs typeface="Bricolage Grotesque 36 Condensed Extra-Light"/>
                <a:sym typeface="Bricolage Grotesque 36 Condensed Extra-Light"/>
              </a:rPr>
              <a:t>Phân Tích Tình Huống Thực Tế / Người Dùng. </a:t>
            </a:r>
          </a:p>
          <a:p>
            <a:pPr algn="l">
              <a:lnSpc>
                <a:spcPts val="7840"/>
              </a:lnSpc>
              <a:spcBef>
                <a:spcPct val="0"/>
              </a:spcBef>
            </a:pPr>
          </a:p>
        </p:txBody>
      </p:sp>
      <p:sp>
        <p:nvSpPr>
          <p:cNvPr name="TextBox 9" id="9"/>
          <p:cNvSpPr txBox="true"/>
          <p:nvPr/>
        </p:nvSpPr>
        <p:spPr>
          <a:xfrm rot="0">
            <a:off x="1815698" y="1851945"/>
            <a:ext cx="6852052" cy="2934335"/>
          </a:xfrm>
          <a:prstGeom prst="rect">
            <a:avLst/>
          </a:prstGeom>
        </p:spPr>
        <p:txBody>
          <a:bodyPr anchor="t" rtlCol="false" tIns="0" lIns="0" bIns="0" rIns="0">
            <a:spAutoFit/>
          </a:bodyPr>
          <a:lstStyle/>
          <a:p>
            <a:pPr algn="l">
              <a:lnSpc>
                <a:spcPts val="7840"/>
              </a:lnSpc>
            </a:pPr>
            <a:r>
              <a:rPr lang="en-US" sz="5600" spc="-140">
                <a:solidFill>
                  <a:srgbClr val="2D2D2D"/>
                </a:solidFill>
                <a:latin typeface="Bricolage Grotesque 36 Condensed Extra-Light"/>
                <a:ea typeface="Bricolage Grotesque 36 Condensed Extra-Light"/>
                <a:cs typeface="Bricolage Grotesque 36 Condensed Extra-Light"/>
                <a:sym typeface="Bricolage Grotesque 36 Condensed Extra-Light"/>
              </a:rPr>
              <a:t>So Sánh Tính Năng, Ưu Điểm Và Hạn Chế. </a:t>
            </a:r>
          </a:p>
          <a:p>
            <a:pPr algn="l">
              <a:lnSpc>
                <a:spcPts val="7840"/>
              </a:lnSpc>
              <a:spcBef>
                <a:spcPct val="0"/>
              </a:spcBef>
            </a:pPr>
          </a:p>
        </p:txBody>
      </p:sp>
      <p:sp>
        <p:nvSpPr>
          <p:cNvPr name="TextBox 10" id="10"/>
          <p:cNvSpPr txBox="true"/>
          <p:nvPr/>
        </p:nvSpPr>
        <p:spPr>
          <a:xfrm rot="0">
            <a:off x="11271049" y="2347245"/>
            <a:ext cx="5669282" cy="1943735"/>
          </a:xfrm>
          <a:prstGeom prst="rect">
            <a:avLst/>
          </a:prstGeom>
        </p:spPr>
        <p:txBody>
          <a:bodyPr anchor="t" rtlCol="false" tIns="0" lIns="0" bIns="0" rIns="0">
            <a:spAutoFit/>
          </a:bodyPr>
          <a:lstStyle/>
          <a:p>
            <a:pPr algn="l">
              <a:lnSpc>
                <a:spcPts val="7840"/>
              </a:lnSpc>
            </a:pPr>
            <a:r>
              <a:rPr lang="en-US" sz="5600" spc="-140">
                <a:solidFill>
                  <a:srgbClr val="2D2D2D"/>
                </a:solidFill>
                <a:latin typeface="Bricolage Grotesque 36 Condensed Extra-Light"/>
                <a:ea typeface="Bricolage Grotesque 36 Condensed Extra-Light"/>
                <a:cs typeface="Bricolage Grotesque 36 Condensed Extra-Light"/>
                <a:sym typeface="Bricolage Grotesque 36 Condensed Extra-Light"/>
              </a:rPr>
              <a:t>Kết Luận.</a:t>
            </a:r>
          </a:p>
          <a:p>
            <a:pPr algn="l">
              <a:lnSpc>
                <a:spcPts val="7840"/>
              </a:lnSpc>
              <a:spcBef>
                <a:spcPct val="0"/>
              </a:spcBef>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1028700" y="4109476"/>
            <a:ext cx="16230600" cy="1858499"/>
          </a:xfrm>
          <a:prstGeom prst="rect">
            <a:avLst/>
          </a:prstGeom>
        </p:spPr>
        <p:txBody>
          <a:bodyPr anchor="t" rtlCol="false" tIns="0" lIns="0" bIns="0" rIns="0">
            <a:spAutoFit/>
          </a:bodyPr>
          <a:lstStyle/>
          <a:p>
            <a:pPr algn="ctr">
              <a:lnSpc>
                <a:spcPts val="15163"/>
              </a:lnSpc>
            </a:pPr>
            <a:r>
              <a:rPr lang="en-US" b="true" sz="10830" spc="-108">
                <a:solidFill>
                  <a:srgbClr val="000000"/>
                </a:solidFill>
                <a:latin typeface="Bricolage Grotesque 36 Condensed Bold"/>
                <a:ea typeface="Bricolage Grotesque 36 Condensed Bold"/>
                <a:cs typeface="Bricolage Grotesque 36 Condensed Bold"/>
                <a:sym typeface="Bricolage Grotesque 36 Condensed Bold"/>
              </a:rPr>
              <a:t>SƠ LƯỢC VỀ CÁC DỊCH VỤ / ỨNG DỤNG. </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77695" y="2105614"/>
            <a:ext cx="3136845" cy="2938927"/>
          </a:xfrm>
          <a:custGeom>
            <a:avLst/>
            <a:gdLst/>
            <a:ahLst/>
            <a:cxnLst/>
            <a:rect r="r" b="b" t="t" l="l"/>
            <a:pathLst>
              <a:path h="2938927" w="3136845">
                <a:moveTo>
                  <a:pt x="0" y="0"/>
                </a:moveTo>
                <a:lnTo>
                  <a:pt x="3136845" y="0"/>
                </a:lnTo>
                <a:lnTo>
                  <a:pt x="3136845" y="2938927"/>
                </a:lnTo>
                <a:lnTo>
                  <a:pt x="0" y="2938927"/>
                </a:lnTo>
                <a:lnTo>
                  <a:pt x="0" y="0"/>
                </a:lnTo>
                <a:close/>
              </a:path>
            </a:pathLst>
          </a:custGeom>
          <a:blipFill>
            <a:blip r:embed="rId2"/>
            <a:stretch>
              <a:fillRect l="-24027" t="0" r="-42735" b="0"/>
            </a:stretch>
          </a:blipFill>
        </p:spPr>
      </p:sp>
      <p:sp>
        <p:nvSpPr>
          <p:cNvPr name="Freeform 3" id="3"/>
          <p:cNvSpPr/>
          <p:nvPr/>
        </p:nvSpPr>
        <p:spPr>
          <a:xfrm flipH="false" flipV="false" rot="0">
            <a:off x="403556" y="5416224"/>
            <a:ext cx="2912025" cy="2912025"/>
          </a:xfrm>
          <a:custGeom>
            <a:avLst/>
            <a:gdLst/>
            <a:ahLst/>
            <a:cxnLst/>
            <a:rect r="r" b="b" t="t" l="l"/>
            <a:pathLst>
              <a:path h="2912025" w="2912025">
                <a:moveTo>
                  <a:pt x="0" y="0"/>
                </a:moveTo>
                <a:lnTo>
                  <a:pt x="2912025" y="0"/>
                </a:lnTo>
                <a:lnTo>
                  <a:pt x="2912025" y="2912025"/>
                </a:lnTo>
                <a:lnTo>
                  <a:pt x="0" y="2912025"/>
                </a:lnTo>
                <a:lnTo>
                  <a:pt x="0" y="0"/>
                </a:lnTo>
                <a:close/>
              </a:path>
            </a:pathLst>
          </a:custGeom>
          <a:blipFill>
            <a:blip r:embed="rId3"/>
            <a:stretch>
              <a:fillRect l="0" t="0" r="0" b="0"/>
            </a:stretch>
          </a:blipFill>
        </p:spPr>
      </p:sp>
      <p:sp>
        <p:nvSpPr>
          <p:cNvPr name="Freeform 4" id="4"/>
          <p:cNvSpPr/>
          <p:nvPr/>
        </p:nvSpPr>
        <p:spPr>
          <a:xfrm flipH="false" flipV="false" rot="0">
            <a:off x="4486944" y="2006655"/>
            <a:ext cx="6125225" cy="4073275"/>
          </a:xfrm>
          <a:custGeom>
            <a:avLst/>
            <a:gdLst/>
            <a:ahLst/>
            <a:cxnLst/>
            <a:rect r="r" b="b" t="t" l="l"/>
            <a:pathLst>
              <a:path h="4073275" w="6125225">
                <a:moveTo>
                  <a:pt x="0" y="0"/>
                </a:moveTo>
                <a:lnTo>
                  <a:pt x="6125226" y="0"/>
                </a:lnTo>
                <a:lnTo>
                  <a:pt x="6125226" y="4073275"/>
                </a:lnTo>
                <a:lnTo>
                  <a:pt x="0" y="4073275"/>
                </a:lnTo>
                <a:lnTo>
                  <a:pt x="0" y="0"/>
                </a:lnTo>
                <a:close/>
              </a:path>
            </a:pathLst>
          </a:custGeom>
          <a:blipFill>
            <a:blip r:embed="rId4"/>
            <a:stretch>
              <a:fillRect l="0" t="0" r="0" b="0"/>
            </a:stretch>
          </a:blipFill>
        </p:spPr>
      </p:sp>
      <p:sp>
        <p:nvSpPr>
          <p:cNvPr name="Freeform 5" id="5"/>
          <p:cNvSpPr/>
          <p:nvPr/>
        </p:nvSpPr>
        <p:spPr>
          <a:xfrm flipH="false" flipV="false" rot="0">
            <a:off x="11148471" y="2006655"/>
            <a:ext cx="5950220" cy="4065984"/>
          </a:xfrm>
          <a:custGeom>
            <a:avLst/>
            <a:gdLst/>
            <a:ahLst/>
            <a:cxnLst/>
            <a:rect r="r" b="b" t="t" l="l"/>
            <a:pathLst>
              <a:path h="4065984" w="5950220">
                <a:moveTo>
                  <a:pt x="0" y="0"/>
                </a:moveTo>
                <a:lnTo>
                  <a:pt x="5950220" y="0"/>
                </a:lnTo>
                <a:lnTo>
                  <a:pt x="5950220" y="4065984"/>
                </a:lnTo>
                <a:lnTo>
                  <a:pt x="0" y="4065984"/>
                </a:lnTo>
                <a:lnTo>
                  <a:pt x="0" y="0"/>
                </a:lnTo>
                <a:close/>
              </a:path>
            </a:pathLst>
          </a:custGeom>
          <a:blipFill>
            <a:blip r:embed="rId5"/>
            <a:stretch>
              <a:fillRect l="0" t="0" r="0" b="0"/>
            </a:stretch>
          </a:blipFill>
        </p:spPr>
      </p:sp>
      <p:sp>
        <p:nvSpPr>
          <p:cNvPr name="TextBox 6" id="6"/>
          <p:cNvSpPr txBox="true"/>
          <p:nvPr/>
        </p:nvSpPr>
        <p:spPr>
          <a:xfrm rot="0">
            <a:off x="376654" y="404548"/>
            <a:ext cx="17581732" cy="1602107"/>
          </a:xfrm>
          <a:prstGeom prst="rect">
            <a:avLst/>
          </a:prstGeom>
        </p:spPr>
        <p:txBody>
          <a:bodyPr anchor="t" rtlCol="false" tIns="0" lIns="0" bIns="0" rIns="0">
            <a:spAutoFit/>
          </a:bodyPr>
          <a:lstStyle/>
          <a:p>
            <a:pPr algn="l">
              <a:lnSpc>
                <a:spcPts val="12180"/>
              </a:lnSpc>
            </a:pPr>
            <a:r>
              <a:rPr lang="en-US" b="true" sz="11600" spc="-58">
                <a:solidFill>
                  <a:srgbClr val="000000"/>
                </a:solidFill>
                <a:latin typeface="Bricolage Grotesque 36 Condensed Bold"/>
                <a:ea typeface="Bricolage Grotesque 36 Condensed Bold"/>
                <a:cs typeface="Bricolage Grotesque 36 Condensed Bold"/>
                <a:sym typeface="Bricolage Grotesque 36 Condensed Bold"/>
              </a:rPr>
              <a:t>SƠ LƯỢC VỀ CÁC DỊCH VỤ / ỨNG DỤNG</a:t>
            </a:r>
          </a:p>
        </p:txBody>
      </p:sp>
      <p:sp>
        <p:nvSpPr>
          <p:cNvPr name="TextBox 7" id="7"/>
          <p:cNvSpPr txBox="true"/>
          <p:nvPr/>
        </p:nvSpPr>
        <p:spPr>
          <a:xfrm rot="0">
            <a:off x="4338556" y="6956649"/>
            <a:ext cx="13619830" cy="2897505"/>
          </a:xfrm>
          <a:prstGeom prst="rect">
            <a:avLst/>
          </a:prstGeom>
        </p:spPr>
        <p:txBody>
          <a:bodyPr anchor="t" rtlCol="false" tIns="0" lIns="0" bIns="0" rIns="0">
            <a:spAutoFit/>
          </a:bodyPr>
          <a:lstStyle/>
          <a:p>
            <a:pPr algn="l">
              <a:lnSpc>
                <a:spcPts val="4619"/>
              </a:lnSpc>
              <a:spcBef>
                <a:spcPct val="0"/>
              </a:spcBef>
            </a:pPr>
            <a:r>
              <a:rPr lang="en-US" b="true" sz="3299" spc="-32">
                <a:solidFill>
                  <a:srgbClr val="000000"/>
                </a:solidFill>
                <a:latin typeface="Bricolage Grotesque 36 Condensed Bold"/>
                <a:ea typeface="Bricolage Grotesque 36 Condensed Bold"/>
                <a:cs typeface="Bricolage Grotesque 36 Condensed Bold"/>
                <a:sym typeface="Bricolage Grotesque 36 Condensed Bold"/>
              </a:rPr>
              <a:t>Zalo </a:t>
            </a:r>
            <a:r>
              <a:rPr lang="en-US" sz="3299" spc="-32">
                <a:solidFill>
                  <a:srgbClr val="000000"/>
                </a:solidFill>
                <a:latin typeface="Bricolage Grotesque 36 Condensed Extra-Light"/>
                <a:ea typeface="Bricolage Grotesque 36 Condensed Extra-Light"/>
                <a:cs typeface="Bricolage Grotesque 36 Condensed Extra-Light"/>
                <a:sym typeface="Bricolage Grotesque 36 Condensed Extra-Light"/>
              </a:rPr>
              <a:t>là một ứng dụng chúng ta thường xuyên dùng để nhắn tin và gọi điện cho người thân, bạn bè miễn phí do công ty VNG tạo ra. Ra mắt chính thức vào tháng 12/2012. Lúc đầu, Zalo chỉ tập trung vào việc giúp chúng ta nhắn tin nhanh chóng, ổn định trên điện thoại. Sau đó, ứng dụng phát triển thêm các tính năng gọi thoại, gọi video, gửi hình ảnh, chia sẻ tệp và kết nối với cơ quan, doanh nghiệp. Hiện nay, Zalo được sử dụng rộng rãi tại Việt Nam trong học tập, công việc và đời sống hằng ngày. Và đây cũng là ứng dụng giao tiếp em dùng nhiều nhất trong trao đổi về việc học tập.</a:t>
            </a:r>
          </a:p>
        </p:txBody>
      </p:sp>
      <p:sp>
        <p:nvSpPr>
          <p:cNvPr name="TextBox 8" id="8"/>
          <p:cNvSpPr txBox="true"/>
          <p:nvPr/>
        </p:nvSpPr>
        <p:spPr>
          <a:xfrm rot="0">
            <a:off x="376654" y="1882830"/>
            <a:ext cx="2938927" cy="3136216"/>
          </a:xfrm>
          <a:prstGeom prst="rect">
            <a:avLst/>
          </a:prstGeom>
        </p:spPr>
        <p:txBody>
          <a:bodyPr anchor="t" rtlCol="false" tIns="0" lIns="0" bIns="0" rIns="0">
            <a:spAutoFit/>
          </a:bodyPr>
          <a:lstStyle/>
          <a:p>
            <a:pPr algn="ctr">
              <a:lnSpc>
                <a:spcPts val="6162"/>
              </a:lnSpc>
              <a:spcBef>
                <a:spcPct val="0"/>
              </a:spcBef>
            </a:pPr>
            <a:r>
              <a:rPr lang="en-US" sz="4401" spc="-110">
                <a:solidFill>
                  <a:srgbClr val="000000"/>
                </a:solidFill>
                <a:latin typeface="Brick Sans"/>
                <a:ea typeface="Brick Sans"/>
                <a:cs typeface="Brick Sans"/>
                <a:sym typeface="Brick Sans"/>
              </a:rPr>
              <a:t>Lịch sử</a:t>
            </a:r>
            <a:r>
              <a:rPr lang="en-US" sz="4401" spc="-110">
                <a:solidFill>
                  <a:srgbClr val="000000"/>
                </a:solidFill>
                <a:latin typeface="Brick Sans"/>
                <a:ea typeface="Brick Sans"/>
                <a:cs typeface="Brick Sans"/>
                <a:sym typeface="Brick Sans"/>
              </a:rPr>
              <a:t> phát triển của </a:t>
            </a:r>
            <a:r>
              <a:rPr lang="en-US" sz="4401" spc="-110">
                <a:solidFill>
                  <a:srgbClr val="38B6FF"/>
                </a:solidFill>
                <a:latin typeface="Brick Sans"/>
                <a:ea typeface="Brick Sans"/>
                <a:cs typeface="Brick Sans"/>
                <a:sym typeface="Brick Sans"/>
              </a:rPr>
              <a:t>Zalo</a:t>
            </a:r>
          </a:p>
        </p:txBody>
      </p:sp>
      <p:sp>
        <p:nvSpPr>
          <p:cNvPr name="TextBox 9" id="9"/>
          <p:cNvSpPr txBox="true"/>
          <p:nvPr/>
        </p:nvSpPr>
        <p:spPr>
          <a:xfrm rot="0">
            <a:off x="13723545" y="9763125"/>
            <a:ext cx="4564455" cy="523875"/>
          </a:xfrm>
          <a:prstGeom prst="rect">
            <a:avLst/>
          </a:prstGeom>
        </p:spPr>
        <p:txBody>
          <a:bodyPr anchor="t" rtlCol="false" tIns="0" lIns="0" bIns="0" rIns="0">
            <a:spAutoFit/>
          </a:bodyPr>
          <a:lstStyle/>
          <a:p>
            <a:pPr algn="l">
              <a:lnSpc>
                <a:spcPts val="4200"/>
              </a:lnSpc>
              <a:spcBef>
                <a:spcPct val="0"/>
              </a:spcBef>
            </a:pP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(Cre / Nguồn: </a:t>
            </a:r>
            <a:r>
              <a:rPr lang="en-US" sz="3000" spc="-30" u="sng">
                <a:solidFill>
                  <a:srgbClr val="1290E4"/>
                </a:solidFill>
                <a:latin typeface="Bricolage Grotesque 36 Condensed Extra-Light"/>
                <a:ea typeface="Bricolage Grotesque 36 Condensed Extra-Light"/>
                <a:cs typeface="Bricolage Grotesque 36 Condensed Extra-Light"/>
                <a:sym typeface="Bricolage Grotesque 36 Condensed Extra-Light"/>
                <a:hlinkClick r:id="rId6" tooltip="https://vi.wikipedia.org/wiki/Zalo"/>
              </a:rPr>
              <a:t>https://vi.wikipedia.org/wiki/Zalo</a:t>
            </a: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 </a:t>
            </a:r>
          </a:p>
        </p:txBody>
      </p:sp>
      <p:sp>
        <p:nvSpPr>
          <p:cNvPr name="TextBox 10" id="10"/>
          <p:cNvSpPr txBox="true"/>
          <p:nvPr/>
        </p:nvSpPr>
        <p:spPr>
          <a:xfrm rot="0">
            <a:off x="4486944" y="6146605"/>
            <a:ext cx="6125225" cy="780732"/>
          </a:xfrm>
          <a:prstGeom prst="rect">
            <a:avLst/>
          </a:prstGeom>
        </p:spPr>
        <p:txBody>
          <a:bodyPr anchor="t" rtlCol="false" tIns="0" lIns="0" bIns="0" rIns="0">
            <a:spAutoFit/>
          </a:bodyPr>
          <a:lstStyle/>
          <a:p>
            <a:pPr algn="l">
              <a:lnSpc>
                <a:spcPts val="3167"/>
              </a:lnSpc>
              <a:spcBef>
                <a:spcPct val="0"/>
              </a:spcBef>
            </a:pPr>
            <a:r>
              <a:rPr lang="en-US" sz="2262" spc="-22">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https://plus24h.com/zalo-marketing/lich-su-phat-trien-cua-zalo-qua-cac-giai-doan.html</a:t>
            </a:r>
          </a:p>
        </p:txBody>
      </p:sp>
      <p:sp>
        <p:nvSpPr>
          <p:cNvPr name="TextBox 11" id="11"/>
          <p:cNvSpPr txBox="true"/>
          <p:nvPr/>
        </p:nvSpPr>
        <p:spPr>
          <a:xfrm rot="0">
            <a:off x="11148471" y="6252117"/>
            <a:ext cx="5950220" cy="780732"/>
          </a:xfrm>
          <a:prstGeom prst="rect">
            <a:avLst/>
          </a:prstGeom>
        </p:spPr>
        <p:txBody>
          <a:bodyPr anchor="t" rtlCol="false" tIns="0" lIns="0" bIns="0" rIns="0">
            <a:spAutoFit/>
          </a:bodyPr>
          <a:lstStyle/>
          <a:p>
            <a:pPr algn="l">
              <a:lnSpc>
                <a:spcPts val="3167"/>
              </a:lnSpc>
              <a:spcBef>
                <a:spcPct val="0"/>
              </a:spcBef>
            </a:pPr>
            <a:r>
              <a:rPr lang="en-US" sz="2262" spc="-22">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https://genk.vn/giao-dien-moi-cua-zalo-tuong-khong-dep-nhung-dep-khong-tuong-20171012102544398.chn</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9671" y="1683638"/>
            <a:ext cx="2771893" cy="3417927"/>
          </a:xfrm>
          <a:custGeom>
            <a:avLst/>
            <a:gdLst/>
            <a:ahLst/>
            <a:cxnLst/>
            <a:rect r="r" b="b" t="t" l="l"/>
            <a:pathLst>
              <a:path h="3417927" w="2771893">
                <a:moveTo>
                  <a:pt x="0" y="0"/>
                </a:moveTo>
                <a:lnTo>
                  <a:pt x="2771893" y="0"/>
                </a:lnTo>
                <a:lnTo>
                  <a:pt x="2771893" y="3417927"/>
                </a:lnTo>
                <a:lnTo>
                  <a:pt x="0" y="3417927"/>
                </a:lnTo>
                <a:lnTo>
                  <a:pt x="0" y="0"/>
                </a:lnTo>
                <a:close/>
              </a:path>
            </a:pathLst>
          </a:custGeom>
          <a:blipFill>
            <a:blip r:embed="rId2"/>
            <a:stretch>
              <a:fillRect l="-40844" t="0" r="-78633" b="0"/>
            </a:stretch>
          </a:blipFill>
        </p:spPr>
      </p:sp>
      <p:sp>
        <p:nvSpPr>
          <p:cNvPr name="Freeform 3" id="3"/>
          <p:cNvSpPr/>
          <p:nvPr/>
        </p:nvSpPr>
        <p:spPr>
          <a:xfrm flipH="false" flipV="false" rot="0">
            <a:off x="1163235" y="4778548"/>
            <a:ext cx="1844765" cy="1844765"/>
          </a:xfrm>
          <a:custGeom>
            <a:avLst/>
            <a:gdLst/>
            <a:ahLst/>
            <a:cxnLst/>
            <a:rect r="r" b="b" t="t" l="l"/>
            <a:pathLst>
              <a:path h="1844765" w="1844765">
                <a:moveTo>
                  <a:pt x="0" y="0"/>
                </a:moveTo>
                <a:lnTo>
                  <a:pt x="1844765" y="0"/>
                </a:lnTo>
                <a:lnTo>
                  <a:pt x="1844765" y="1844765"/>
                </a:lnTo>
                <a:lnTo>
                  <a:pt x="0" y="1844765"/>
                </a:lnTo>
                <a:lnTo>
                  <a:pt x="0" y="0"/>
                </a:lnTo>
                <a:close/>
              </a:path>
            </a:pathLst>
          </a:custGeom>
          <a:blipFill>
            <a:blip r:embed="rId3"/>
            <a:stretch>
              <a:fillRect l="0" t="0" r="0" b="0"/>
            </a:stretch>
          </a:blipFill>
        </p:spPr>
      </p:sp>
      <p:sp>
        <p:nvSpPr>
          <p:cNvPr name="Freeform 4" id="4"/>
          <p:cNvSpPr/>
          <p:nvPr/>
        </p:nvSpPr>
        <p:spPr>
          <a:xfrm flipH="false" flipV="false" rot="0">
            <a:off x="12260286" y="1891550"/>
            <a:ext cx="5111351" cy="4072687"/>
          </a:xfrm>
          <a:custGeom>
            <a:avLst/>
            <a:gdLst/>
            <a:ahLst/>
            <a:cxnLst/>
            <a:rect r="r" b="b" t="t" l="l"/>
            <a:pathLst>
              <a:path h="4072687" w="5111351">
                <a:moveTo>
                  <a:pt x="0" y="0"/>
                </a:moveTo>
                <a:lnTo>
                  <a:pt x="5111351" y="0"/>
                </a:lnTo>
                <a:lnTo>
                  <a:pt x="5111351" y="4072687"/>
                </a:lnTo>
                <a:lnTo>
                  <a:pt x="0" y="4072687"/>
                </a:lnTo>
                <a:lnTo>
                  <a:pt x="0" y="0"/>
                </a:lnTo>
                <a:close/>
              </a:path>
            </a:pathLst>
          </a:custGeom>
          <a:blipFill>
            <a:blip r:embed="rId4"/>
            <a:stretch>
              <a:fillRect l="-38920" t="-19250" r="-36033" b="-16747"/>
            </a:stretch>
          </a:blipFill>
        </p:spPr>
      </p:sp>
      <p:sp>
        <p:nvSpPr>
          <p:cNvPr name="Freeform 5" id="5"/>
          <p:cNvSpPr/>
          <p:nvPr/>
        </p:nvSpPr>
        <p:spPr>
          <a:xfrm flipH="false" flipV="false" rot="0">
            <a:off x="4319265" y="6098139"/>
            <a:ext cx="6133826" cy="3447447"/>
          </a:xfrm>
          <a:custGeom>
            <a:avLst/>
            <a:gdLst/>
            <a:ahLst/>
            <a:cxnLst/>
            <a:rect r="r" b="b" t="t" l="l"/>
            <a:pathLst>
              <a:path h="3447447" w="6133826">
                <a:moveTo>
                  <a:pt x="0" y="0"/>
                </a:moveTo>
                <a:lnTo>
                  <a:pt x="6133826" y="0"/>
                </a:lnTo>
                <a:lnTo>
                  <a:pt x="6133826" y="3447447"/>
                </a:lnTo>
                <a:lnTo>
                  <a:pt x="0" y="3447447"/>
                </a:lnTo>
                <a:lnTo>
                  <a:pt x="0" y="0"/>
                </a:lnTo>
                <a:close/>
              </a:path>
            </a:pathLst>
          </a:custGeom>
          <a:blipFill>
            <a:blip r:embed="rId5"/>
            <a:stretch>
              <a:fillRect l="0" t="-374" r="0" b="-374"/>
            </a:stretch>
          </a:blipFill>
        </p:spPr>
      </p:sp>
      <p:sp>
        <p:nvSpPr>
          <p:cNvPr name="TextBox 6" id="6"/>
          <p:cNvSpPr txBox="true"/>
          <p:nvPr/>
        </p:nvSpPr>
        <p:spPr>
          <a:xfrm rot="0">
            <a:off x="376654" y="404548"/>
            <a:ext cx="17581732" cy="1602107"/>
          </a:xfrm>
          <a:prstGeom prst="rect">
            <a:avLst/>
          </a:prstGeom>
        </p:spPr>
        <p:txBody>
          <a:bodyPr anchor="t" rtlCol="false" tIns="0" lIns="0" bIns="0" rIns="0">
            <a:spAutoFit/>
          </a:bodyPr>
          <a:lstStyle/>
          <a:p>
            <a:pPr algn="l">
              <a:lnSpc>
                <a:spcPts val="12180"/>
              </a:lnSpc>
            </a:pPr>
            <a:r>
              <a:rPr lang="en-US" b="true" sz="11600" spc="-58">
                <a:solidFill>
                  <a:srgbClr val="000000"/>
                </a:solidFill>
                <a:latin typeface="Bricolage Grotesque 36 Condensed Bold"/>
                <a:ea typeface="Bricolage Grotesque 36 Condensed Bold"/>
                <a:cs typeface="Bricolage Grotesque 36 Condensed Bold"/>
                <a:sym typeface="Bricolage Grotesque 36 Condensed Bold"/>
              </a:rPr>
              <a:t>SƠ LƯỢC VỀ CÁC DỊCH VỤ / ỨNG DỤNG</a:t>
            </a:r>
          </a:p>
        </p:txBody>
      </p:sp>
      <p:sp>
        <p:nvSpPr>
          <p:cNvPr name="TextBox 7" id="7"/>
          <p:cNvSpPr txBox="true"/>
          <p:nvPr/>
        </p:nvSpPr>
        <p:spPr>
          <a:xfrm rot="0">
            <a:off x="3937488" y="1805825"/>
            <a:ext cx="7679825" cy="4893310"/>
          </a:xfrm>
          <a:prstGeom prst="rect">
            <a:avLst/>
          </a:prstGeom>
        </p:spPr>
        <p:txBody>
          <a:bodyPr anchor="t" rtlCol="false" tIns="0" lIns="0" bIns="0" rIns="0">
            <a:spAutoFit/>
          </a:bodyPr>
          <a:lstStyle/>
          <a:p>
            <a:pPr algn="just">
              <a:lnSpc>
                <a:spcPts val="4339"/>
              </a:lnSpc>
            </a:pPr>
            <a:r>
              <a:rPr lang="en-US" b="true" sz="3099" spc="-30">
                <a:solidFill>
                  <a:srgbClr val="000000"/>
                </a:solidFill>
                <a:latin typeface="Times New Roman Bold"/>
                <a:ea typeface="Times New Roman Bold"/>
                <a:cs typeface="Times New Roman Bold"/>
                <a:sym typeface="Times New Roman Bold"/>
              </a:rPr>
              <a:t>Messenger </a:t>
            </a:r>
            <a:r>
              <a:rPr lang="en-US" sz="3099" spc="-30">
                <a:solidFill>
                  <a:srgbClr val="000000"/>
                </a:solidFill>
                <a:latin typeface="Times New Roman"/>
                <a:ea typeface="Times New Roman"/>
                <a:cs typeface="Times New Roman"/>
                <a:sym typeface="Times New Roman"/>
              </a:rPr>
              <a:t>được Facebook (Nay là META) ra mắt vào ngày 9/8/2011 dưới dạng mottj ứng dụng nhắn tin, giúp ta kết nối với bạn bè và các groups của mình. Ban đầu, ứng dụng gắn liền với hệ thống tin nhắn của Facebook. Sau nhiều lần nâng cấp, Messenger ra thêm các tính năng như gọi thoại, gọi videos, gửi ảnh, sticker và gửi tệp.</a:t>
            </a:r>
          </a:p>
          <a:p>
            <a:pPr algn="just">
              <a:lnSpc>
                <a:spcPts val="4339"/>
              </a:lnSpc>
              <a:spcBef>
                <a:spcPct val="0"/>
              </a:spcBef>
            </a:pPr>
          </a:p>
          <a:p>
            <a:pPr algn="just">
              <a:lnSpc>
                <a:spcPts val="4339"/>
              </a:lnSpc>
              <a:spcBef>
                <a:spcPct val="0"/>
              </a:spcBef>
            </a:pPr>
          </a:p>
        </p:txBody>
      </p:sp>
      <p:sp>
        <p:nvSpPr>
          <p:cNvPr name="TextBox 8" id="8"/>
          <p:cNvSpPr txBox="true"/>
          <p:nvPr/>
        </p:nvSpPr>
        <p:spPr>
          <a:xfrm rot="0">
            <a:off x="376654" y="1892355"/>
            <a:ext cx="3417927" cy="2722410"/>
          </a:xfrm>
          <a:prstGeom prst="rect">
            <a:avLst/>
          </a:prstGeom>
        </p:spPr>
        <p:txBody>
          <a:bodyPr anchor="t" rtlCol="false" tIns="0" lIns="0" bIns="0" rIns="0">
            <a:spAutoFit/>
          </a:bodyPr>
          <a:lstStyle/>
          <a:p>
            <a:pPr algn="ctr">
              <a:lnSpc>
                <a:spcPts val="5345"/>
              </a:lnSpc>
              <a:spcBef>
                <a:spcPct val="0"/>
              </a:spcBef>
            </a:pPr>
            <a:r>
              <a:rPr lang="en-US" sz="3818" spc="-95">
                <a:solidFill>
                  <a:srgbClr val="000000"/>
                </a:solidFill>
                <a:latin typeface="Brick Sans"/>
                <a:ea typeface="Brick Sans"/>
                <a:cs typeface="Brick Sans"/>
                <a:sym typeface="Brick Sans"/>
              </a:rPr>
              <a:t>Lịch sử</a:t>
            </a:r>
            <a:r>
              <a:rPr lang="en-US" sz="3818" spc="-95">
                <a:solidFill>
                  <a:srgbClr val="000000"/>
                </a:solidFill>
                <a:latin typeface="Brick Sans"/>
                <a:ea typeface="Brick Sans"/>
                <a:cs typeface="Brick Sans"/>
                <a:sym typeface="Brick Sans"/>
              </a:rPr>
              <a:t> phát triển của Messenger</a:t>
            </a:r>
          </a:p>
        </p:txBody>
      </p:sp>
      <p:sp>
        <p:nvSpPr>
          <p:cNvPr name="TextBox 9" id="9"/>
          <p:cNvSpPr txBox="true"/>
          <p:nvPr/>
        </p:nvSpPr>
        <p:spPr>
          <a:xfrm rot="0">
            <a:off x="11404663" y="9763125"/>
            <a:ext cx="6822597" cy="523875"/>
          </a:xfrm>
          <a:prstGeom prst="rect">
            <a:avLst/>
          </a:prstGeom>
        </p:spPr>
        <p:txBody>
          <a:bodyPr anchor="t" rtlCol="false" tIns="0" lIns="0" bIns="0" rIns="0">
            <a:spAutoFit/>
          </a:bodyPr>
          <a:lstStyle/>
          <a:p>
            <a:pPr algn="l">
              <a:lnSpc>
                <a:spcPts val="4200"/>
              </a:lnSpc>
              <a:spcBef>
                <a:spcPct val="0"/>
              </a:spcBef>
            </a:pP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a:t>
            </a:r>
            <a:r>
              <a:rPr lang="en-US" b="true" sz="3000" spc="-30">
                <a:solidFill>
                  <a:srgbClr val="000000"/>
                </a:solidFill>
                <a:latin typeface="Bricolage Grotesque 36 Condensed Bold"/>
                <a:ea typeface="Bricolage Grotesque 36 Condensed Bold"/>
                <a:cs typeface="Bricolage Grotesque 36 Condensed Bold"/>
                <a:sym typeface="Bricolage Grotesque 36 Condensed Bold"/>
              </a:rPr>
              <a:t>Cre / Nguồn:</a:t>
            </a: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 </a:t>
            </a:r>
            <a:r>
              <a:rPr lang="en-US" sz="3000" spc="-30">
                <a:gradFill>
                  <a:gsLst>
                    <a:gs pos="0">
                      <a:srgbClr val="5170FF">
                        <a:alpha val="100000"/>
                      </a:srgbClr>
                    </a:gs>
                    <a:gs pos="100000">
                      <a:srgbClr val="FF66C4">
                        <a:alpha val="100000"/>
                      </a:srgbClr>
                    </a:gs>
                  </a:gsLst>
                  <a:lin ang="0"/>
                </a:gradFill>
                <a:latin typeface="Bricolage Grotesque 36 Condensed Extra-Light"/>
                <a:ea typeface="Bricolage Grotesque 36 Condensed Extra-Light"/>
                <a:cs typeface="Bricolage Grotesque 36 Condensed Extra-Light"/>
                <a:sym typeface="Bricolage Grotesque 36 Condensed Extra-Light"/>
              </a:rPr>
              <a:t>https://vi.wikipedia.org/wiki/Facebook_Messenger</a:t>
            </a: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 </a:t>
            </a:r>
          </a:p>
        </p:txBody>
      </p:sp>
      <p:sp>
        <p:nvSpPr>
          <p:cNvPr name="TextBox 10" id="10"/>
          <p:cNvSpPr txBox="true"/>
          <p:nvPr/>
        </p:nvSpPr>
        <p:spPr>
          <a:xfrm rot="0">
            <a:off x="11013698" y="6341745"/>
            <a:ext cx="6944689" cy="3488055"/>
          </a:xfrm>
          <a:prstGeom prst="rect">
            <a:avLst/>
          </a:prstGeom>
        </p:spPr>
        <p:txBody>
          <a:bodyPr anchor="t" rtlCol="false" tIns="0" lIns="0" bIns="0" rIns="0">
            <a:spAutoFit/>
          </a:bodyPr>
          <a:lstStyle/>
          <a:p>
            <a:pPr algn="just">
              <a:lnSpc>
                <a:spcPts val="4619"/>
              </a:lnSpc>
            </a:pPr>
            <a:r>
              <a:rPr lang="en-US" sz="3299" spc="-32">
                <a:solidFill>
                  <a:srgbClr val="000000"/>
                </a:solidFill>
                <a:latin typeface="Times New Roman"/>
                <a:ea typeface="Times New Roman"/>
                <a:cs typeface="Times New Roman"/>
                <a:sym typeface="Times New Roman"/>
              </a:rPr>
              <a:t>Bây giờ, Messenger thuộc META (Facebook cũ) và được chúng ta sử dụng để liên lạc cá nhân, trao đổi công việc và trò chuyện nhóm. Đây là ứng dụng giao tiếp em dùng nhiều nhất trong việc trò chuyện, tương tác với bạn bè.</a:t>
            </a:r>
          </a:p>
        </p:txBody>
      </p:sp>
      <p:sp>
        <p:nvSpPr>
          <p:cNvPr name="TextBox 11" id="11"/>
          <p:cNvSpPr txBox="true"/>
          <p:nvPr/>
        </p:nvSpPr>
        <p:spPr>
          <a:xfrm rot="0">
            <a:off x="4327866" y="9517011"/>
            <a:ext cx="6125225" cy="265176"/>
          </a:xfrm>
          <a:prstGeom prst="rect">
            <a:avLst/>
          </a:prstGeom>
        </p:spPr>
        <p:txBody>
          <a:bodyPr anchor="t" rtlCol="false" tIns="0" lIns="0" bIns="0" rIns="0">
            <a:spAutoFit/>
          </a:bodyPr>
          <a:lstStyle/>
          <a:p>
            <a:pPr algn="l">
              <a:lnSpc>
                <a:spcPts val="2184"/>
              </a:lnSpc>
              <a:spcBef>
                <a:spcPct val="0"/>
              </a:spcBef>
            </a:pPr>
            <a:r>
              <a:rPr lang="en-US" sz="1560" spc="-15">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https://www.thegioididong.com/tin-tuc/facebook-messenger-chinh-thuc-ra-mat-tren-pc-va-mac-ban-da-tai-chua--1246666</a:t>
            </a:r>
          </a:p>
        </p:txBody>
      </p:sp>
      <p:sp>
        <p:nvSpPr>
          <p:cNvPr name="TextBox 12" id="12"/>
          <p:cNvSpPr txBox="true"/>
          <p:nvPr/>
        </p:nvSpPr>
        <p:spPr>
          <a:xfrm rot="0">
            <a:off x="12260286" y="5886133"/>
            <a:ext cx="5111351" cy="541337"/>
          </a:xfrm>
          <a:prstGeom prst="rect">
            <a:avLst/>
          </a:prstGeom>
        </p:spPr>
        <p:txBody>
          <a:bodyPr anchor="t" rtlCol="false" tIns="0" lIns="0" bIns="0" rIns="0">
            <a:spAutoFit/>
          </a:bodyPr>
          <a:lstStyle/>
          <a:p>
            <a:pPr algn="l">
              <a:lnSpc>
                <a:spcPts val="2187"/>
              </a:lnSpc>
              <a:spcBef>
                <a:spcPct val="0"/>
              </a:spcBef>
            </a:pPr>
            <a:r>
              <a:rPr lang="en-US" sz="1562" spc="-15">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https://hoanghamobile.com/tin-tuc/messenger-tren-pc-ra-mat/?srsltid=AU7gw4XSBoF9JTeXy7wRhdjom3UnPusu5p499gCHBEABUhOnkRIH8h5h</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99671" y="1683638"/>
            <a:ext cx="2771893" cy="3417927"/>
          </a:xfrm>
          <a:custGeom>
            <a:avLst/>
            <a:gdLst/>
            <a:ahLst/>
            <a:cxnLst/>
            <a:rect r="r" b="b" t="t" l="l"/>
            <a:pathLst>
              <a:path h="3417927" w="2771893">
                <a:moveTo>
                  <a:pt x="0" y="0"/>
                </a:moveTo>
                <a:lnTo>
                  <a:pt x="2771893" y="0"/>
                </a:lnTo>
                <a:lnTo>
                  <a:pt x="2771893" y="3417927"/>
                </a:lnTo>
                <a:lnTo>
                  <a:pt x="0" y="3417927"/>
                </a:lnTo>
                <a:lnTo>
                  <a:pt x="0" y="0"/>
                </a:lnTo>
                <a:close/>
              </a:path>
            </a:pathLst>
          </a:custGeom>
          <a:blipFill>
            <a:blip r:embed="rId2"/>
            <a:stretch>
              <a:fillRect l="-40844" t="0" r="-78633" b="0"/>
            </a:stretch>
          </a:blipFill>
        </p:spPr>
      </p:sp>
      <p:sp>
        <p:nvSpPr>
          <p:cNvPr name="Freeform 3" id="3"/>
          <p:cNvSpPr/>
          <p:nvPr/>
        </p:nvSpPr>
        <p:spPr>
          <a:xfrm flipH="false" flipV="false" rot="0">
            <a:off x="12260286" y="1891550"/>
            <a:ext cx="5111351" cy="4072687"/>
          </a:xfrm>
          <a:custGeom>
            <a:avLst/>
            <a:gdLst/>
            <a:ahLst/>
            <a:cxnLst/>
            <a:rect r="r" b="b" t="t" l="l"/>
            <a:pathLst>
              <a:path h="4072687" w="5111351">
                <a:moveTo>
                  <a:pt x="0" y="0"/>
                </a:moveTo>
                <a:lnTo>
                  <a:pt x="5111351" y="0"/>
                </a:lnTo>
                <a:lnTo>
                  <a:pt x="5111351" y="4072687"/>
                </a:lnTo>
                <a:lnTo>
                  <a:pt x="0" y="4072687"/>
                </a:lnTo>
                <a:lnTo>
                  <a:pt x="0" y="0"/>
                </a:lnTo>
                <a:close/>
              </a:path>
            </a:pathLst>
          </a:custGeom>
          <a:blipFill>
            <a:blip r:embed="rId3"/>
            <a:stretch>
              <a:fillRect l="-38920" t="-19250" r="-36033" b="-16747"/>
            </a:stretch>
          </a:blipFill>
        </p:spPr>
      </p:sp>
      <p:sp>
        <p:nvSpPr>
          <p:cNvPr name="Freeform 4" id="4"/>
          <p:cNvSpPr/>
          <p:nvPr/>
        </p:nvSpPr>
        <p:spPr>
          <a:xfrm flipH="false" flipV="false" rot="0">
            <a:off x="4319265" y="6098139"/>
            <a:ext cx="6133826" cy="3447447"/>
          </a:xfrm>
          <a:custGeom>
            <a:avLst/>
            <a:gdLst/>
            <a:ahLst/>
            <a:cxnLst/>
            <a:rect r="r" b="b" t="t" l="l"/>
            <a:pathLst>
              <a:path h="3447447" w="6133826">
                <a:moveTo>
                  <a:pt x="0" y="0"/>
                </a:moveTo>
                <a:lnTo>
                  <a:pt x="6133826" y="0"/>
                </a:lnTo>
                <a:lnTo>
                  <a:pt x="6133826" y="3447447"/>
                </a:lnTo>
                <a:lnTo>
                  <a:pt x="0" y="3447447"/>
                </a:lnTo>
                <a:lnTo>
                  <a:pt x="0" y="0"/>
                </a:lnTo>
                <a:close/>
              </a:path>
            </a:pathLst>
          </a:custGeom>
          <a:blipFill>
            <a:blip r:embed="rId4"/>
            <a:stretch>
              <a:fillRect l="0" t="-374" r="0" b="-374"/>
            </a:stretch>
          </a:blipFill>
        </p:spPr>
      </p:sp>
      <p:sp>
        <p:nvSpPr>
          <p:cNvPr name="TextBox 5" id="5"/>
          <p:cNvSpPr txBox="true"/>
          <p:nvPr/>
        </p:nvSpPr>
        <p:spPr>
          <a:xfrm rot="0">
            <a:off x="376654" y="404548"/>
            <a:ext cx="17581732" cy="1602107"/>
          </a:xfrm>
          <a:prstGeom prst="rect">
            <a:avLst/>
          </a:prstGeom>
        </p:spPr>
        <p:txBody>
          <a:bodyPr anchor="t" rtlCol="false" tIns="0" lIns="0" bIns="0" rIns="0">
            <a:spAutoFit/>
          </a:bodyPr>
          <a:lstStyle/>
          <a:p>
            <a:pPr algn="l">
              <a:lnSpc>
                <a:spcPts val="12180"/>
              </a:lnSpc>
            </a:pPr>
            <a:r>
              <a:rPr lang="en-US" b="true" sz="11600" spc="-58">
                <a:solidFill>
                  <a:srgbClr val="000000"/>
                </a:solidFill>
                <a:latin typeface="Bricolage Grotesque 36 Condensed Bold"/>
                <a:ea typeface="Bricolage Grotesque 36 Condensed Bold"/>
                <a:cs typeface="Bricolage Grotesque 36 Condensed Bold"/>
                <a:sym typeface="Bricolage Grotesque 36 Condensed Bold"/>
              </a:rPr>
              <a:t>SƠ LƯỢC VỀ CÁC DỊCH VỤ / ỨNG DỤNG</a:t>
            </a:r>
          </a:p>
        </p:txBody>
      </p:sp>
      <p:sp>
        <p:nvSpPr>
          <p:cNvPr name="TextBox 6" id="6"/>
          <p:cNvSpPr txBox="true"/>
          <p:nvPr/>
        </p:nvSpPr>
        <p:spPr>
          <a:xfrm rot="0">
            <a:off x="3937488" y="1805825"/>
            <a:ext cx="7679825" cy="4893310"/>
          </a:xfrm>
          <a:prstGeom prst="rect">
            <a:avLst/>
          </a:prstGeom>
        </p:spPr>
        <p:txBody>
          <a:bodyPr anchor="t" rtlCol="false" tIns="0" lIns="0" bIns="0" rIns="0">
            <a:spAutoFit/>
          </a:bodyPr>
          <a:lstStyle/>
          <a:p>
            <a:pPr algn="just">
              <a:lnSpc>
                <a:spcPts val="4339"/>
              </a:lnSpc>
            </a:pPr>
            <a:r>
              <a:rPr lang="en-US" b="true" sz="3099" spc="-30">
                <a:solidFill>
                  <a:srgbClr val="000000"/>
                </a:solidFill>
                <a:latin typeface="Times New Roman Bold"/>
                <a:ea typeface="Times New Roman Bold"/>
                <a:cs typeface="Times New Roman Bold"/>
                <a:sym typeface="Times New Roman Bold"/>
              </a:rPr>
              <a:t>Messenger </a:t>
            </a:r>
            <a:r>
              <a:rPr lang="en-US" sz="3099" spc="-30">
                <a:solidFill>
                  <a:srgbClr val="000000"/>
                </a:solidFill>
                <a:latin typeface="Times New Roman"/>
                <a:ea typeface="Times New Roman"/>
                <a:cs typeface="Times New Roman"/>
                <a:sym typeface="Times New Roman"/>
              </a:rPr>
              <a:t>được Facebook (Nay là META) ra mắt vào ngày 9/8/2011 dưới dạng mottj ứng dụng nhắn tin, giúp ta kết nối với bạn bè và các groups của mình. Ban đầu, ứng dụng gắn liền với hệ thống tin nhắn của Facebook. Sau nhiều lần nâng cấp, Messenger ra thêm các tính năng như gọi thoại, gọi videos, gửi ảnh, sticker và gửi tệp.</a:t>
            </a:r>
          </a:p>
          <a:p>
            <a:pPr algn="just">
              <a:lnSpc>
                <a:spcPts val="4339"/>
              </a:lnSpc>
              <a:spcBef>
                <a:spcPct val="0"/>
              </a:spcBef>
            </a:pPr>
          </a:p>
          <a:p>
            <a:pPr algn="just">
              <a:lnSpc>
                <a:spcPts val="4339"/>
              </a:lnSpc>
              <a:spcBef>
                <a:spcPct val="0"/>
              </a:spcBef>
            </a:pPr>
          </a:p>
        </p:txBody>
      </p:sp>
      <p:sp>
        <p:nvSpPr>
          <p:cNvPr name="TextBox 7" id="7"/>
          <p:cNvSpPr txBox="true"/>
          <p:nvPr/>
        </p:nvSpPr>
        <p:spPr>
          <a:xfrm rot="0">
            <a:off x="376654" y="1892355"/>
            <a:ext cx="3417927" cy="2722410"/>
          </a:xfrm>
          <a:prstGeom prst="rect">
            <a:avLst/>
          </a:prstGeom>
        </p:spPr>
        <p:txBody>
          <a:bodyPr anchor="t" rtlCol="false" tIns="0" lIns="0" bIns="0" rIns="0">
            <a:spAutoFit/>
          </a:bodyPr>
          <a:lstStyle/>
          <a:p>
            <a:pPr algn="ctr">
              <a:lnSpc>
                <a:spcPts val="5345"/>
              </a:lnSpc>
              <a:spcBef>
                <a:spcPct val="0"/>
              </a:spcBef>
            </a:pPr>
            <a:r>
              <a:rPr lang="en-US" sz="3818" spc="-95">
                <a:solidFill>
                  <a:srgbClr val="000000"/>
                </a:solidFill>
                <a:latin typeface="Brick Sans"/>
                <a:ea typeface="Brick Sans"/>
                <a:cs typeface="Brick Sans"/>
                <a:sym typeface="Brick Sans"/>
              </a:rPr>
              <a:t>Lịch sử</a:t>
            </a:r>
            <a:r>
              <a:rPr lang="en-US" sz="3818" spc="-95">
                <a:solidFill>
                  <a:srgbClr val="000000"/>
                </a:solidFill>
                <a:latin typeface="Brick Sans"/>
                <a:ea typeface="Brick Sans"/>
                <a:cs typeface="Brick Sans"/>
                <a:sym typeface="Brick Sans"/>
              </a:rPr>
              <a:t> phát triển của </a:t>
            </a:r>
            <a:r>
              <a:rPr lang="en-US" sz="3818" spc="-95">
                <a:solidFill>
                  <a:srgbClr val="5E17EB"/>
                </a:solidFill>
                <a:latin typeface="Brick Sans"/>
                <a:ea typeface="Brick Sans"/>
                <a:cs typeface="Brick Sans"/>
                <a:sym typeface="Brick Sans"/>
              </a:rPr>
              <a:t>Discord</a:t>
            </a:r>
          </a:p>
        </p:txBody>
      </p:sp>
      <p:sp>
        <p:nvSpPr>
          <p:cNvPr name="TextBox 8" id="8"/>
          <p:cNvSpPr txBox="true"/>
          <p:nvPr/>
        </p:nvSpPr>
        <p:spPr>
          <a:xfrm rot="0">
            <a:off x="11404663" y="9763125"/>
            <a:ext cx="6822597" cy="523875"/>
          </a:xfrm>
          <a:prstGeom prst="rect">
            <a:avLst/>
          </a:prstGeom>
        </p:spPr>
        <p:txBody>
          <a:bodyPr anchor="t" rtlCol="false" tIns="0" lIns="0" bIns="0" rIns="0">
            <a:spAutoFit/>
          </a:bodyPr>
          <a:lstStyle/>
          <a:p>
            <a:pPr algn="l">
              <a:lnSpc>
                <a:spcPts val="4200"/>
              </a:lnSpc>
              <a:spcBef>
                <a:spcPct val="0"/>
              </a:spcBef>
            </a:pP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a:t>
            </a:r>
            <a:r>
              <a:rPr lang="en-US" b="true" sz="3000" spc="-30">
                <a:solidFill>
                  <a:srgbClr val="000000"/>
                </a:solidFill>
                <a:latin typeface="Bricolage Grotesque 36 Condensed Bold"/>
                <a:ea typeface="Bricolage Grotesque 36 Condensed Bold"/>
                <a:cs typeface="Bricolage Grotesque 36 Condensed Bold"/>
                <a:sym typeface="Bricolage Grotesque 36 Condensed Bold"/>
              </a:rPr>
              <a:t>Cre / Nguồn:</a:t>
            </a: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 </a:t>
            </a:r>
            <a:r>
              <a:rPr lang="en-US" sz="3000" spc="-30">
                <a:gradFill>
                  <a:gsLst>
                    <a:gs pos="0">
                      <a:srgbClr val="5170FF">
                        <a:alpha val="100000"/>
                      </a:srgbClr>
                    </a:gs>
                    <a:gs pos="100000">
                      <a:srgbClr val="FF66C4">
                        <a:alpha val="100000"/>
                      </a:srgbClr>
                    </a:gs>
                  </a:gsLst>
                  <a:lin ang="0"/>
                </a:gradFill>
                <a:latin typeface="Bricolage Grotesque 36 Condensed Extra-Light"/>
                <a:ea typeface="Bricolage Grotesque 36 Condensed Extra-Light"/>
                <a:cs typeface="Bricolage Grotesque 36 Condensed Extra-Light"/>
                <a:sym typeface="Bricolage Grotesque 36 Condensed Extra-Light"/>
              </a:rPr>
              <a:t>https://vi.wikipedia.org/wiki/Facebook_Messenger</a:t>
            </a:r>
            <a:r>
              <a:rPr lang="en-US" sz="3000" spc="-30">
                <a:solidFill>
                  <a:srgbClr val="000000"/>
                </a:solidFill>
                <a:latin typeface="Bricolage Grotesque 36 Condensed Extra-Light"/>
                <a:ea typeface="Bricolage Grotesque 36 Condensed Extra-Light"/>
                <a:cs typeface="Bricolage Grotesque 36 Condensed Extra-Light"/>
                <a:sym typeface="Bricolage Grotesque 36 Condensed Extra-Light"/>
              </a:rPr>
              <a:t> </a:t>
            </a:r>
          </a:p>
        </p:txBody>
      </p:sp>
      <p:sp>
        <p:nvSpPr>
          <p:cNvPr name="TextBox 9" id="9"/>
          <p:cNvSpPr txBox="true"/>
          <p:nvPr/>
        </p:nvSpPr>
        <p:spPr>
          <a:xfrm rot="0">
            <a:off x="11013698" y="6341745"/>
            <a:ext cx="6944689" cy="3488055"/>
          </a:xfrm>
          <a:prstGeom prst="rect">
            <a:avLst/>
          </a:prstGeom>
        </p:spPr>
        <p:txBody>
          <a:bodyPr anchor="t" rtlCol="false" tIns="0" lIns="0" bIns="0" rIns="0">
            <a:spAutoFit/>
          </a:bodyPr>
          <a:lstStyle/>
          <a:p>
            <a:pPr algn="just">
              <a:lnSpc>
                <a:spcPts val="4619"/>
              </a:lnSpc>
            </a:pPr>
            <a:r>
              <a:rPr lang="en-US" sz="3299" spc="-32">
                <a:solidFill>
                  <a:srgbClr val="000000"/>
                </a:solidFill>
                <a:latin typeface="Times New Roman"/>
                <a:ea typeface="Times New Roman"/>
                <a:cs typeface="Times New Roman"/>
                <a:sym typeface="Times New Roman"/>
              </a:rPr>
              <a:t>Bây giờ, Messenger thuộc META (Facebook cũ) và được chúng ta sử dụng để liên lạc cá nhân, trao đổi công việc và trò chuyện nhóm. Đây là ứng dụng giao tiếp em dùng nhiều nhất trong việc trò chuyện, tương tác với bạn bè.</a:t>
            </a:r>
          </a:p>
        </p:txBody>
      </p:sp>
      <p:sp>
        <p:nvSpPr>
          <p:cNvPr name="TextBox 10" id="10"/>
          <p:cNvSpPr txBox="true"/>
          <p:nvPr/>
        </p:nvSpPr>
        <p:spPr>
          <a:xfrm rot="0">
            <a:off x="4327866" y="9517011"/>
            <a:ext cx="6125225" cy="265176"/>
          </a:xfrm>
          <a:prstGeom prst="rect">
            <a:avLst/>
          </a:prstGeom>
        </p:spPr>
        <p:txBody>
          <a:bodyPr anchor="t" rtlCol="false" tIns="0" lIns="0" bIns="0" rIns="0">
            <a:spAutoFit/>
          </a:bodyPr>
          <a:lstStyle/>
          <a:p>
            <a:pPr algn="l">
              <a:lnSpc>
                <a:spcPts val="2184"/>
              </a:lnSpc>
              <a:spcBef>
                <a:spcPct val="0"/>
              </a:spcBef>
            </a:pPr>
            <a:r>
              <a:rPr lang="en-US" sz="1560" spc="-15">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https://www.thegioididong.com/tin-tuc/facebook-messenger-chinh-thuc-ra-mat-tren-pc-va-mac-ban-da-tai-chua--1246666</a:t>
            </a:r>
          </a:p>
        </p:txBody>
      </p:sp>
      <p:sp>
        <p:nvSpPr>
          <p:cNvPr name="TextBox 11" id="11"/>
          <p:cNvSpPr txBox="true"/>
          <p:nvPr/>
        </p:nvSpPr>
        <p:spPr>
          <a:xfrm rot="0">
            <a:off x="12260286" y="5886133"/>
            <a:ext cx="5111351" cy="541337"/>
          </a:xfrm>
          <a:prstGeom prst="rect">
            <a:avLst/>
          </a:prstGeom>
        </p:spPr>
        <p:txBody>
          <a:bodyPr anchor="t" rtlCol="false" tIns="0" lIns="0" bIns="0" rIns="0">
            <a:spAutoFit/>
          </a:bodyPr>
          <a:lstStyle/>
          <a:p>
            <a:pPr algn="l">
              <a:lnSpc>
                <a:spcPts val="2187"/>
              </a:lnSpc>
              <a:spcBef>
                <a:spcPct val="0"/>
              </a:spcBef>
            </a:pPr>
            <a:r>
              <a:rPr lang="en-US" sz="1562" spc="-15">
                <a:solidFill>
                  <a:srgbClr val="14AFEE"/>
                </a:solidFill>
                <a:latin typeface="Bricolage Grotesque 36 Condensed Extra-Light"/>
                <a:ea typeface="Bricolage Grotesque 36 Condensed Extra-Light"/>
                <a:cs typeface="Bricolage Grotesque 36 Condensed Extra-Light"/>
                <a:sym typeface="Bricolage Grotesque 36 Condensed Extra-Light"/>
              </a:rPr>
              <a:t>https://hoanghamobile.com/tin-tuc/messenger-tren-pc-ra-mat/?srsltid=AU7gw4XSBoF9JTeXy7wRhdjom3UnPusu5p499gCHBEABUhOnkRIH8h5h</a:t>
            </a:r>
          </a:p>
        </p:txBody>
      </p:sp>
      <p:sp>
        <p:nvSpPr>
          <p:cNvPr name="Freeform 12" id="12"/>
          <p:cNvSpPr/>
          <p:nvPr/>
        </p:nvSpPr>
        <p:spPr>
          <a:xfrm flipH="false" flipV="false" rot="0">
            <a:off x="894096" y="4778548"/>
            <a:ext cx="2395692" cy="2395692"/>
          </a:xfrm>
          <a:custGeom>
            <a:avLst/>
            <a:gdLst/>
            <a:ahLst/>
            <a:cxnLst/>
            <a:rect r="r" b="b" t="t" l="l"/>
            <a:pathLst>
              <a:path h="2395692" w="2395692">
                <a:moveTo>
                  <a:pt x="0" y="0"/>
                </a:moveTo>
                <a:lnTo>
                  <a:pt x="2395692" y="0"/>
                </a:lnTo>
                <a:lnTo>
                  <a:pt x="2395692" y="2395692"/>
                </a:lnTo>
                <a:lnTo>
                  <a:pt x="0" y="2395692"/>
                </a:lnTo>
                <a:lnTo>
                  <a:pt x="0" y="0"/>
                </a:lnTo>
                <a:close/>
              </a:path>
            </a:pathLst>
          </a:custGeom>
          <a:blipFill>
            <a:blip r:embed="rId5"/>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1028700" y="4109476"/>
            <a:ext cx="16230600" cy="3782549"/>
          </a:xfrm>
          <a:prstGeom prst="rect">
            <a:avLst/>
          </a:prstGeom>
        </p:spPr>
        <p:txBody>
          <a:bodyPr anchor="t" rtlCol="false" tIns="0" lIns="0" bIns="0" rIns="0">
            <a:spAutoFit/>
          </a:bodyPr>
          <a:lstStyle/>
          <a:p>
            <a:pPr algn="ctr">
              <a:lnSpc>
                <a:spcPts val="15163"/>
              </a:lnSpc>
            </a:pPr>
            <a:r>
              <a:rPr lang="en-US" b="true" sz="10830" spc="-108">
                <a:solidFill>
                  <a:srgbClr val="000000"/>
                </a:solidFill>
                <a:latin typeface="Bricolage Grotesque 36 Condensed Bold"/>
                <a:ea typeface="Bricolage Grotesque 36 Condensed Bold"/>
                <a:cs typeface="Bricolage Grotesque 36 Condensed Bold"/>
                <a:sym typeface="Bricolage Grotesque 36 Condensed Bold"/>
              </a:rPr>
              <a:t>SO SÁNH TÍNH NĂNG, ƯU ĐIỂM VÀ HẠN CHẾ. </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1154471"/>
          <a:ext cx="7543800" cy="5319522"/>
        </p:xfrm>
        <a:graphic>
          <a:graphicData uri="http://schemas.openxmlformats.org/presentationml/2006/ole">
            <p:oleObj imgW="9042400" imgH="681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311814"/>
            <a:ext cx="7411184" cy="568571"/>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BẢNG SO SÁNH TÍNH NĂNG</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1028700"/>
          <a:ext cx="5657850" cy="2514600"/>
        </p:xfrm>
        <a:graphic>
          <a:graphicData uri="http://schemas.openxmlformats.org/presentationml/2006/ole">
            <p:oleObj imgW="6781800" imgH="3644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821447" y="311814"/>
            <a:ext cx="5825690" cy="1124632"/>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ƯU</a:t>
            </a:r>
            <a:r>
              <a:rPr lang="en-US" b="true" sz="3985" spc="-39">
                <a:solidFill>
                  <a:srgbClr val="000000"/>
                </a:solidFill>
                <a:latin typeface="Comic Sans Bold"/>
                <a:ea typeface="Comic Sans Bold"/>
                <a:cs typeface="Comic Sans Bold"/>
                <a:sym typeface="Comic Sans Bold"/>
              </a:rPr>
              <a:t> ĐIỂM VÀ HẠN CHẾ</a:t>
            </a:r>
          </a:p>
          <a:p>
            <a:pPr algn="ctr">
              <a:lnSpc>
                <a:spcPts val="4383"/>
              </a:lnSpc>
              <a:spcBef>
                <a:spcPct val="0"/>
              </a:spcBef>
            </a:pP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1028700" y="1458321"/>
            <a:ext cx="6011940" cy="5869860"/>
          </a:xfrm>
          <a:prstGeom prst="rect">
            <a:avLst/>
          </a:prstGeom>
        </p:spPr>
        <p:txBody>
          <a:bodyPr anchor="t" rtlCol="false" tIns="0" lIns="0" bIns="0" rIns="0">
            <a:spAutoFit/>
          </a:bodyPr>
          <a:lstStyle/>
          <a:p>
            <a:pPr algn="just">
              <a:lnSpc>
                <a:spcPts val="5163"/>
              </a:lnSpc>
              <a:spcBef>
                <a:spcPct val="0"/>
              </a:spcBef>
            </a:pPr>
            <a:r>
              <a:rPr lang="en-US" b="true" sz="4693" spc="-46">
                <a:solidFill>
                  <a:srgbClr val="000000"/>
                </a:solidFill>
                <a:latin typeface="Times New Roman Bold"/>
                <a:ea typeface="Times New Roman Bold"/>
                <a:cs typeface="Times New Roman Bold"/>
                <a:sym typeface="Times New Roman Bold"/>
              </a:rPr>
              <a:t>TÌNH HUỐNG 1:</a:t>
            </a:r>
            <a:r>
              <a:rPr lang="en-US" sz="4693" spc="-46">
                <a:solidFill>
                  <a:srgbClr val="000000"/>
                </a:solidFill>
                <a:latin typeface="Times New Roman"/>
                <a:ea typeface="Times New Roman"/>
                <a:cs typeface="Times New Roman"/>
                <a:sym typeface="Times New Roman"/>
              </a:rPr>
              <a:t> NHÓM SINH VIÊN TRAO ĐỔI LỊCH HỌC</a:t>
            </a:r>
          </a:p>
          <a:p>
            <a:pPr algn="just">
              <a:lnSpc>
                <a:spcPts val="5163"/>
              </a:lnSpc>
              <a:spcBef>
                <a:spcPct val="0"/>
              </a:spcBef>
            </a:pPr>
          </a:p>
          <a:p>
            <a:pPr algn="just">
              <a:lnSpc>
                <a:spcPts val="5163"/>
              </a:lnSpc>
              <a:spcBef>
                <a:spcPct val="0"/>
              </a:spcBef>
            </a:pPr>
            <a:r>
              <a:rPr lang="en-US" b="true" sz="4693" spc="-46">
                <a:solidFill>
                  <a:srgbClr val="E83338"/>
                </a:solidFill>
                <a:latin typeface="Times New Roman Bold"/>
                <a:ea typeface="Times New Roman Bold"/>
                <a:cs typeface="Times New Roman Bold"/>
                <a:sym typeface="Times New Roman Bold"/>
              </a:rPr>
              <a:t>Tình huống:</a:t>
            </a:r>
            <a:r>
              <a:rPr lang="en-US" b="true" sz="4693" spc="-46">
                <a:solidFill>
                  <a:srgbClr val="000000"/>
                </a:solidFill>
                <a:latin typeface="Times New Roman Bold"/>
                <a:ea typeface="Times New Roman Bold"/>
                <a:cs typeface="Times New Roman Bold"/>
                <a:sym typeface="Times New Roman Bold"/>
              </a:rPr>
              <a:t> </a:t>
            </a:r>
            <a:r>
              <a:rPr lang="en-US" sz="4693" spc="-46">
                <a:solidFill>
                  <a:srgbClr val="000000"/>
                </a:solidFill>
                <a:latin typeface="Times New Roman"/>
                <a:ea typeface="Times New Roman"/>
                <a:cs typeface="Times New Roman"/>
                <a:sym typeface="Times New Roman"/>
              </a:rPr>
              <a:t>Một lớp cần thông báo lịch học, nhắc hạn nộp bài, chia sẻ ảnh và trao đổi nhanh giữa các sinh viên.</a:t>
            </a:r>
          </a:p>
        </p:txBody>
      </p:sp>
      <p:sp>
        <p:nvSpPr>
          <p:cNvPr name="Freeform 3" id="3"/>
          <p:cNvSpPr/>
          <p:nvPr/>
        </p:nvSpPr>
        <p:spPr>
          <a:xfrm flipH="false" flipV="false" rot="0">
            <a:off x="7258673" y="1439271"/>
            <a:ext cx="10000627" cy="5872143"/>
          </a:xfrm>
          <a:custGeom>
            <a:avLst/>
            <a:gdLst/>
            <a:ahLst/>
            <a:cxnLst/>
            <a:rect r="r" b="b" t="t" l="l"/>
            <a:pathLst>
              <a:path h="5872143" w="10000627">
                <a:moveTo>
                  <a:pt x="0" y="0"/>
                </a:moveTo>
                <a:lnTo>
                  <a:pt x="10000627" y="0"/>
                </a:lnTo>
                <a:lnTo>
                  <a:pt x="10000627" y="5872143"/>
                </a:lnTo>
                <a:lnTo>
                  <a:pt x="0" y="5872143"/>
                </a:lnTo>
                <a:lnTo>
                  <a:pt x="0" y="0"/>
                </a:lnTo>
                <a:close/>
              </a:path>
            </a:pathLst>
          </a:custGeom>
          <a:blipFill>
            <a:blip r:embed="rId2"/>
            <a:stretch>
              <a:fillRect l="0" t="0" r="0" b="0"/>
            </a:stretch>
          </a:blipFill>
        </p:spPr>
      </p:sp>
      <p:sp>
        <p:nvSpPr>
          <p:cNvPr name="TextBox 4" id="4"/>
          <p:cNvSpPr txBox="true"/>
          <p:nvPr/>
        </p:nvSpPr>
        <p:spPr>
          <a:xfrm rot="0">
            <a:off x="1028700" y="460129"/>
            <a:ext cx="16230600" cy="568571"/>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PHÂN</a:t>
            </a:r>
            <a:r>
              <a:rPr lang="en-US" b="true" sz="3985" spc="-39">
                <a:solidFill>
                  <a:srgbClr val="000000"/>
                </a:solidFill>
                <a:latin typeface="Comic Sans Bold"/>
                <a:ea typeface="Comic Sans Bold"/>
                <a:cs typeface="Comic Sans Bold"/>
                <a:sym typeface="Comic Sans Bold"/>
              </a:rPr>
              <a:t> TÍCH TÌNH HUỐNG THỰC TẾ / NGƯỜI DÙNG</a:t>
            </a:r>
          </a:p>
        </p:txBody>
      </p:sp>
      <p:sp>
        <p:nvSpPr>
          <p:cNvPr name="TextBox 5" id="5"/>
          <p:cNvSpPr txBox="true"/>
          <p:nvPr/>
        </p:nvSpPr>
        <p:spPr>
          <a:xfrm rot="0">
            <a:off x="1028700" y="7330464"/>
            <a:ext cx="16230600" cy="2631313"/>
          </a:xfrm>
          <a:prstGeom prst="rect">
            <a:avLst/>
          </a:prstGeom>
        </p:spPr>
        <p:txBody>
          <a:bodyPr anchor="t" rtlCol="false" tIns="0" lIns="0" bIns="0" rIns="0">
            <a:spAutoFit/>
          </a:bodyPr>
          <a:lstStyle/>
          <a:p>
            <a:pPr algn="just">
              <a:lnSpc>
                <a:spcPts val="5158"/>
              </a:lnSpc>
              <a:spcBef>
                <a:spcPct val="0"/>
              </a:spcBef>
            </a:pPr>
            <a:r>
              <a:rPr lang="en-US" b="true" sz="4689" spc="-46">
                <a:solidFill>
                  <a:srgbClr val="00BF63"/>
                </a:solidFill>
                <a:latin typeface="Times New Roman Bold"/>
                <a:ea typeface="Times New Roman Bold"/>
                <a:cs typeface="Times New Roman Bold"/>
                <a:sym typeface="Times New Roman Bold"/>
              </a:rPr>
              <a:t>ĐỀ</a:t>
            </a:r>
            <a:r>
              <a:rPr lang="en-US" b="true" sz="4689" spc="-46">
                <a:solidFill>
                  <a:srgbClr val="00BF63"/>
                </a:solidFill>
                <a:latin typeface="Times New Roman Bold"/>
                <a:ea typeface="Times New Roman Bold"/>
                <a:cs typeface="Times New Roman Bold"/>
                <a:sym typeface="Times New Roman Bold"/>
              </a:rPr>
              <a:t> XUẤT: </a:t>
            </a:r>
            <a:r>
              <a:rPr lang="en-US" sz="4689" spc="-46">
                <a:solidFill>
                  <a:srgbClr val="000000"/>
                </a:solidFill>
                <a:latin typeface="Times New Roman"/>
                <a:ea typeface="Times New Roman"/>
                <a:cs typeface="Times New Roman"/>
                <a:sym typeface="Times New Roman"/>
              </a:rPr>
              <a:t>DÙNG ZALO VÀ TẠO NHÓM ĐỂ LÀM KÊNH THÔNG BÁO VÀ TRAO ĐỔI THƯỜ</a:t>
            </a:r>
            <a:r>
              <a:rPr lang="en-US" sz="4689" spc="-46">
                <a:solidFill>
                  <a:srgbClr val="000000"/>
                </a:solidFill>
                <a:latin typeface="Times New Roman"/>
                <a:ea typeface="Times New Roman"/>
                <a:cs typeface="Times New Roman"/>
                <a:sym typeface="Times New Roman"/>
              </a:rPr>
              <a:t>n</a:t>
            </a:r>
            <a:r>
              <a:rPr lang="en-US" sz="4689" spc="-46">
                <a:solidFill>
                  <a:srgbClr val="000000"/>
                </a:solidFill>
                <a:latin typeface="Times New Roman"/>
                <a:ea typeface="Times New Roman"/>
                <a:cs typeface="Times New Roman"/>
                <a:sym typeface="Times New Roman"/>
              </a:rPr>
              <a:t>g</a:t>
            </a:r>
            <a:r>
              <a:rPr lang="en-US" sz="4689" spc="-46">
                <a:solidFill>
                  <a:srgbClr val="000000"/>
                </a:solidFill>
                <a:latin typeface="Times New Roman"/>
                <a:ea typeface="Times New Roman"/>
                <a:cs typeface="Times New Roman"/>
                <a:sym typeface="Times New Roman"/>
              </a:rPr>
              <a:t> ng</a:t>
            </a:r>
            <a:r>
              <a:rPr lang="en-US" sz="4689" spc="-46">
                <a:solidFill>
                  <a:srgbClr val="000000"/>
                </a:solidFill>
                <a:latin typeface="Times New Roman"/>
                <a:ea typeface="Times New Roman"/>
                <a:cs typeface="Times New Roman"/>
                <a:sym typeface="Times New Roman"/>
              </a:rPr>
              <a:t>ày.</a:t>
            </a:r>
            <a:r>
              <a:rPr lang="en-US" sz="4689" spc="-46">
                <a:solidFill>
                  <a:srgbClr val="000000"/>
                </a:solidFill>
                <a:latin typeface="Times New Roman"/>
                <a:ea typeface="Times New Roman"/>
                <a:cs typeface="Times New Roman"/>
                <a:sym typeface="Times New Roman"/>
              </a:rPr>
              <a:t> Nên ghim (Pin) thông báo quan trọng, thống nhất quy tắc đặt tên tệp, tránh gửi dữ liệu cá nhân không cần thiết và phải có một hoặc hai người quản lý nhóm (Trưởng nhóm và các phó nhóm).</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7279425" y="1439271"/>
            <a:ext cx="10708859" cy="6262882"/>
          </a:xfrm>
          <a:custGeom>
            <a:avLst/>
            <a:gdLst/>
            <a:ahLst/>
            <a:cxnLst/>
            <a:rect r="r" b="b" t="t" l="l"/>
            <a:pathLst>
              <a:path h="6262882" w="10708859">
                <a:moveTo>
                  <a:pt x="0" y="0"/>
                </a:moveTo>
                <a:lnTo>
                  <a:pt x="10708859" y="0"/>
                </a:lnTo>
                <a:lnTo>
                  <a:pt x="10708859" y="6262883"/>
                </a:lnTo>
                <a:lnTo>
                  <a:pt x="0" y="6262883"/>
                </a:lnTo>
                <a:lnTo>
                  <a:pt x="0" y="0"/>
                </a:lnTo>
                <a:close/>
              </a:path>
            </a:pathLst>
          </a:custGeom>
          <a:blipFill>
            <a:blip r:embed="rId2"/>
            <a:stretch>
              <a:fillRect l="0" t="0" r="0" b="0"/>
            </a:stretch>
          </a:blipFill>
        </p:spPr>
      </p:sp>
      <p:sp>
        <p:nvSpPr>
          <p:cNvPr name="TextBox 3" id="3"/>
          <p:cNvSpPr txBox="true"/>
          <p:nvPr/>
        </p:nvSpPr>
        <p:spPr>
          <a:xfrm rot="0">
            <a:off x="1028700" y="1458321"/>
            <a:ext cx="6016664" cy="6636595"/>
          </a:xfrm>
          <a:prstGeom prst="rect">
            <a:avLst/>
          </a:prstGeom>
        </p:spPr>
        <p:txBody>
          <a:bodyPr anchor="t" rtlCol="false" tIns="0" lIns="0" bIns="0" rIns="0">
            <a:spAutoFit/>
          </a:bodyPr>
          <a:lstStyle/>
          <a:p>
            <a:pPr algn="just">
              <a:lnSpc>
                <a:spcPts val="4748"/>
              </a:lnSpc>
              <a:spcBef>
                <a:spcPct val="0"/>
              </a:spcBef>
            </a:pPr>
            <a:r>
              <a:rPr lang="en-US" b="true" sz="4316" spc="-43">
                <a:solidFill>
                  <a:srgbClr val="000000"/>
                </a:solidFill>
                <a:latin typeface="Times New Roman Bold"/>
                <a:ea typeface="Times New Roman Bold"/>
                <a:cs typeface="Times New Roman Bold"/>
                <a:sym typeface="Times New Roman Bold"/>
              </a:rPr>
              <a:t>TÌNH HUỐNG 2:</a:t>
            </a:r>
            <a:r>
              <a:rPr lang="en-US" sz="4316" spc="-43">
                <a:solidFill>
                  <a:srgbClr val="000000"/>
                </a:solidFill>
                <a:latin typeface="Times New Roman"/>
                <a:ea typeface="Times New Roman"/>
                <a:cs typeface="Times New Roman"/>
                <a:sym typeface="Times New Roman"/>
              </a:rPr>
              <a:t> NHÓM BẠN PHỐI HỢP HOẠT ĐỘNG TRÊN FACEBOOK</a:t>
            </a:r>
          </a:p>
          <a:p>
            <a:pPr algn="just">
              <a:lnSpc>
                <a:spcPts val="4748"/>
              </a:lnSpc>
              <a:spcBef>
                <a:spcPct val="0"/>
              </a:spcBef>
            </a:pPr>
          </a:p>
          <a:p>
            <a:pPr algn="just">
              <a:lnSpc>
                <a:spcPts val="4748"/>
              </a:lnSpc>
              <a:spcBef>
                <a:spcPct val="0"/>
              </a:spcBef>
            </a:pPr>
            <a:r>
              <a:rPr lang="en-US" b="true" sz="4316" spc="-43">
                <a:solidFill>
                  <a:srgbClr val="E83338"/>
                </a:solidFill>
                <a:latin typeface="Times New Roman Bold"/>
                <a:ea typeface="Times New Roman Bold"/>
                <a:cs typeface="Times New Roman Bold"/>
                <a:sym typeface="Times New Roman Bold"/>
              </a:rPr>
              <a:t>Tình huống:</a:t>
            </a:r>
            <a:r>
              <a:rPr lang="en-US" sz="4316" spc="-43">
                <a:solidFill>
                  <a:srgbClr val="000000"/>
                </a:solidFill>
                <a:latin typeface="Times New Roman"/>
                <a:ea typeface="Times New Roman"/>
                <a:cs typeface="Times New Roman"/>
                <a:sym typeface="Times New Roman"/>
              </a:rPr>
              <a:t> Một nhóm bạn bè thường chia sẻ bài viết, sự kiện và hình ảnh trên Facebook, cần gọi video call để thống nhất kế hoạch.</a:t>
            </a:r>
          </a:p>
        </p:txBody>
      </p:sp>
      <p:sp>
        <p:nvSpPr>
          <p:cNvPr name="TextBox 4" id="4"/>
          <p:cNvSpPr txBox="true"/>
          <p:nvPr/>
        </p:nvSpPr>
        <p:spPr>
          <a:xfrm rot="0">
            <a:off x="1028700" y="460129"/>
            <a:ext cx="16230600" cy="568571"/>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PHÂN</a:t>
            </a:r>
            <a:r>
              <a:rPr lang="en-US" b="true" sz="3985" spc="-39">
                <a:solidFill>
                  <a:srgbClr val="000000"/>
                </a:solidFill>
                <a:latin typeface="Comic Sans Bold"/>
                <a:ea typeface="Comic Sans Bold"/>
                <a:cs typeface="Comic Sans Bold"/>
                <a:sym typeface="Comic Sans Bold"/>
              </a:rPr>
              <a:t> TÍCH TÌNH HUỐNG THỰC TẾ / NGƯỜI DÙNG</a:t>
            </a:r>
          </a:p>
        </p:txBody>
      </p:sp>
      <p:sp>
        <p:nvSpPr>
          <p:cNvPr name="TextBox 5" id="5"/>
          <p:cNvSpPr txBox="true"/>
          <p:nvPr/>
        </p:nvSpPr>
        <p:spPr>
          <a:xfrm rot="0">
            <a:off x="1028700" y="8356892"/>
            <a:ext cx="16230600" cy="1836039"/>
          </a:xfrm>
          <a:prstGeom prst="rect">
            <a:avLst/>
          </a:prstGeom>
        </p:spPr>
        <p:txBody>
          <a:bodyPr anchor="t" rtlCol="false" tIns="0" lIns="0" bIns="0" rIns="0">
            <a:spAutoFit/>
          </a:bodyPr>
          <a:lstStyle/>
          <a:p>
            <a:pPr algn="just">
              <a:lnSpc>
                <a:spcPts val="4752"/>
              </a:lnSpc>
              <a:spcBef>
                <a:spcPct val="0"/>
              </a:spcBef>
            </a:pPr>
            <a:r>
              <a:rPr lang="en-US" b="true" sz="4320" spc="-43">
                <a:solidFill>
                  <a:srgbClr val="00BF63"/>
                </a:solidFill>
                <a:latin typeface="Times New Roman Bold"/>
                <a:ea typeface="Times New Roman Bold"/>
                <a:cs typeface="Times New Roman Bold"/>
                <a:sym typeface="Times New Roman Bold"/>
              </a:rPr>
              <a:t>ĐỀ</a:t>
            </a:r>
            <a:r>
              <a:rPr lang="en-US" b="true" sz="4320" spc="-43">
                <a:solidFill>
                  <a:srgbClr val="00BF63"/>
                </a:solidFill>
                <a:latin typeface="Times New Roman Bold"/>
                <a:ea typeface="Times New Roman Bold"/>
                <a:cs typeface="Times New Roman Bold"/>
                <a:sym typeface="Times New Roman Bold"/>
              </a:rPr>
              <a:t> XUẤT: </a:t>
            </a:r>
            <a:r>
              <a:rPr lang="en-US" sz="4320" spc="-43">
                <a:solidFill>
                  <a:srgbClr val="000000"/>
                </a:solidFill>
                <a:latin typeface="Times New Roman"/>
                <a:ea typeface="Times New Roman"/>
                <a:cs typeface="Times New Roman"/>
                <a:sym typeface="Times New Roman"/>
              </a:rPr>
              <a:t>MESSENGER LÀ LỰA CHỌN HIỂN NHIÊN VÌ CÁC TH</a:t>
            </a:r>
            <a:r>
              <a:rPr lang="en-US" sz="4320" spc="-43">
                <a:solidFill>
                  <a:srgbClr val="000000"/>
                </a:solidFill>
                <a:latin typeface="Times New Roman"/>
                <a:ea typeface="Times New Roman"/>
                <a:cs typeface="Times New Roman"/>
                <a:sym typeface="Times New Roman"/>
              </a:rPr>
              <a:t>ành viên đã có mạng lưới liên hệ trên Facebook và Messenger cũng thuộc hệ thống của Facebook.</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7575669" y="1439271"/>
            <a:ext cx="9833505" cy="5528647"/>
          </a:xfrm>
          <a:custGeom>
            <a:avLst/>
            <a:gdLst/>
            <a:ahLst/>
            <a:cxnLst/>
            <a:rect r="r" b="b" t="t" l="l"/>
            <a:pathLst>
              <a:path h="5528647" w="9833505">
                <a:moveTo>
                  <a:pt x="0" y="0"/>
                </a:moveTo>
                <a:lnTo>
                  <a:pt x="9833505" y="0"/>
                </a:lnTo>
                <a:lnTo>
                  <a:pt x="9833505" y="5528647"/>
                </a:lnTo>
                <a:lnTo>
                  <a:pt x="0" y="5528647"/>
                </a:lnTo>
                <a:lnTo>
                  <a:pt x="0" y="0"/>
                </a:lnTo>
                <a:close/>
              </a:path>
            </a:pathLst>
          </a:custGeom>
          <a:blipFill>
            <a:blip r:embed="rId2"/>
            <a:stretch>
              <a:fillRect l="0" t="0" r="0" b="0"/>
            </a:stretch>
          </a:blipFill>
        </p:spPr>
      </p:sp>
      <p:sp>
        <p:nvSpPr>
          <p:cNvPr name="TextBox 3" id="3"/>
          <p:cNvSpPr txBox="true"/>
          <p:nvPr/>
        </p:nvSpPr>
        <p:spPr>
          <a:xfrm rot="0">
            <a:off x="1028700" y="1458321"/>
            <a:ext cx="6016664" cy="5869813"/>
          </a:xfrm>
          <a:prstGeom prst="rect">
            <a:avLst/>
          </a:prstGeom>
        </p:spPr>
        <p:txBody>
          <a:bodyPr anchor="t" rtlCol="false" tIns="0" lIns="0" bIns="0" rIns="0">
            <a:spAutoFit/>
          </a:bodyPr>
          <a:lstStyle/>
          <a:p>
            <a:pPr algn="just">
              <a:lnSpc>
                <a:spcPts val="5158"/>
              </a:lnSpc>
              <a:spcBef>
                <a:spcPct val="0"/>
              </a:spcBef>
            </a:pPr>
            <a:r>
              <a:rPr lang="en-US" b="true" sz="4689" spc="-46">
                <a:solidFill>
                  <a:srgbClr val="000000"/>
                </a:solidFill>
                <a:latin typeface="Times New Roman Bold"/>
                <a:ea typeface="Times New Roman Bold"/>
                <a:cs typeface="Times New Roman Bold"/>
                <a:sym typeface="Times New Roman Bold"/>
              </a:rPr>
              <a:t>TÌNH HUỐNG 3:</a:t>
            </a:r>
            <a:r>
              <a:rPr lang="en-US" sz="4689" spc="-46">
                <a:solidFill>
                  <a:srgbClr val="000000"/>
                </a:solidFill>
                <a:latin typeface="Times New Roman"/>
                <a:ea typeface="Times New Roman"/>
                <a:cs typeface="Times New Roman"/>
                <a:sym typeface="Times New Roman"/>
              </a:rPr>
              <a:t> CỘNG ĐỒNG CHƠI GAME HOẶC HỌC LẬP TRÌNH</a:t>
            </a:r>
          </a:p>
          <a:p>
            <a:pPr algn="just">
              <a:lnSpc>
                <a:spcPts val="5158"/>
              </a:lnSpc>
              <a:spcBef>
                <a:spcPct val="0"/>
              </a:spcBef>
            </a:pPr>
            <a:r>
              <a:rPr lang="en-US" b="true" sz="4689" spc="-46">
                <a:solidFill>
                  <a:srgbClr val="E83338"/>
                </a:solidFill>
                <a:latin typeface="Times New Roman Bold"/>
                <a:ea typeface="Times New Roman Bold"/>
                <a:cs typeface="Times New Roman Bold"/>
                <a:sym typeface="Times New Roman Bold"/>
              </a:rPr>
              <a:t>Tình huống:</a:t>
            </a:r>
            <a:r>
              <a:rPr lang="en-US" sz="4689" spc="-46">
                <a:solidFill>
                  <a:srgbClr val="000000"/>
                </a:solidFill>
                <a:latin typeface="Times New Roman"/>
                <a:ea typeface="Times New Roman"/>
                <a:cs typeface="Times New Roman"/>
                <a:sym typeface="Times New Roman"/>
              </a:rPr>
              <a:t> Một nhóm thành viên ở nhiều nơi muốn trò chuyện khi chơi game, chia sẻ màn hình để hướng dẫn nhau.</a:t>
            </a:r>
          </a:p>
        </p:txBody>
      </p:sp>
      <p:sp>
        <p:nvSpPr>
          <p:cNvPr name="TextBox 4" id="4"/>
          <p:cNvSpPr txBox="true"/>
          <p:nvPr/>
        </p:nvSpPr>
        <p:spPr>
          <a:xfrm rot="0">
            <a:off x="1028700" y="460129"/>
            <a:ext cx="16230600" cy="568571"/>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PHÂN</a:t>
            </a:r>
            <a:r>
              <a:rPr lang="en-US" b="true" sz="3985" spc="-39">
                <a:solidFill>
                  <a:srgbClr val="000000"/>
                </a:solidFill>
                <a:latin typeface="Comic Sans Bold"/>
                <a:ea typeface="Comic Sans Bold"/>
                <a:cs typeface="Comic Sans Bold"/>
                <a:sym typeface="Comic Sans Bold"/>
              </a:rPr>
              <a:t> TÍCH TÌNH HUỐNG THỰC TẾ / NGƯỜI DÙNG</a:t>
            </a:r>
          </a:p>
        </p:txBody>
      </p:sp>
      <p:sp>
        <p:nvSpPr>
          <p:cNvPr name="TextBox 5" id="5"/>
          <p:cNvSpPr txBox="true"/>
          <p:nvPr/>
        </p:nvSpPr>
        <p:spPr>
          <a:xfrm rot="0">
            <a:off x="1028700" y="7490131"/>
            <a:ext cx="16230600" cy="2631313"/>
          </a:xfrm>
          <a:prstGeom prst="rect">
            <a:avLst/>
          </a:prstGeom>
        </p:spPr>
        <p:txBody>
          <a:bodyPr anchor="t" rtlCol="false" tIns="0" lIns="0" bIns="0" rIns="0">
            <a:spAutoFit/>
          </a:bodyPr>
          <a:lstStyle/>
          <a:p>
            <a:pPr algn="just">
              <a:lnSpc>
                <a:spcPts val="5158"/>
              </a:lnSpc>
              <a:spcBef>
                <a:spcPct val="0"/>
              </a:spcBef>
            </a:pPr>
            <a:r>
              <a:rPr lang="en-US" b="true" sz="4689" spc="-46">
                <a:solidFill>
                  <a:srgbClr val="00BF63"/>
                </a:solidFill>
                <a:latin typeface="Times New Roman Bold"/>
                <a:ea typeface="Times New Roman Bold"/>
                <a:cs typeface="Times New Roman Bold"/>
                <a:sym typeface="Times New Roman Bold"/>
              </a:rPr>
              <a:t>ĐỀ</a:t>
            </a:r>
            <a:r>
              <a:rPr lang="en-US" b="true" sz="4689" spc="-46">
                <a:solidFill>
                  <a:srgbClr val="00BF63"/>
                </a:solidFill>
                <a:latin typeface="Times New Roman Bold"/>
                <a:ea typeface="Times New Roman Bold"/>
                <a:cs typeface="Times New Roman Bold"/>
                <a:sym typeface="Times New Roman Bold"/>
              </a:rPr>
              <a:t> XUẤT: </a:t>
            </a:r>
            <a:r>
              <a:rPr lang="en-US" sz="4689" spc="-46">
                <a:solidFill>
                  <a:srgbClr val="000000"/>
                </a:solidFill>
                <a:latin typeface="Times New Roman"/>
                <a:ea typeface="Times New Roman"/>
                <a:cs typeface="Times New Roman"/>
                <a:sym typeface="Times New Roman"/>
              </a:rPr>
              <a:t>DISCORD PHÙ HỢP VÌ CÓ MÔ HÌNH MÁY CHỦ VÀ NHIỀU KÊNH. QUẢN TRỊ VIÊN NÊN THIẾT LẬP QUYỀ</a:t>
            </a:r>
            <a:r>
              <a:rPr lang="en-US" sz="4689" spc="-46">
                <a:solidFill>
                  <a:srgbClr val="000000"/>
                </a:solidFill>
                <a:latin typeface="Times New Roman"/>
                <a:ea typeface="Times New Roman"/>
                <a:cs typeface="Times New Roman"/>
                <a:sym typeface="Times New Roman"/>
              </a:rPr>
              <a:t>n theo vai trò, hạn chế quyền gửi liên kết cho tài khoản mới nếu cần, bật công cụ lọc nội dung và phải có báo cáo vi phạm.</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bg>
      <p:bgPr>
        <a:solidFill>
          <a:srgbClr val="FFFCEB"/>
        </a:solidFill>
      </p:bgPr>
    </p:bg>
    <p:spTree>
      <p:nvGrpSpPr>
        <p:cNvPr id="1" name=""/>
        <p:cNvGrpSpPr/>
        <p:nvPr/>
      </p:nvGrpSpPr>
      <p:grpSpPr>
        <a:xfrm>
          <a:off x="0" y="0"/>
          <a:ext cx="0" cy="0"/>
          <a:chOff x="0" y="0"/>
          <a:chExt cx="0" cy="0"/>
        </a:xfrm>
      </p:grpSpPr>
      <p:sp>
        <p:nvSpPr>
          <p:cNvPr name="TextBox 2" id="2"/>
          <p:cNvSpPr txBox="true"/>
          <p:nvPr/>
        </p:nvSpPr>
        <p:spPr>
          <a:xfrm rot="0">
            <a:off x="1028700" y="4109476"/>
            <a:ext cx="16230600" cy="1858499"/>
          </a:xfrm>
          <a:prstGeom prst="rect">
            <a:avLst/>
          </a:prstGeom>
        </p:spPr>
        <p:txBody>
          <a:bodyPr anchor="t" rtlCol="false" tIns="0" lIns="0" bIns="0" rIns="0">
            <a:spAutoFit/>
          </a:bodyPr>
          <a:lstStyle/>
          <a:p>
            <a:pPr algn="ctr">
              <a:lnSpc>
                <a:spcPts val="15163"/>
              </a:lnSpc>
            </a:pPr>
            <a:r>
              <a:rPr lang="en-US" b="true" sz="10830" spc="-108">
                <a:solidFill>
                  <a:srgbClr val="000000"/>
                </a:solidFill>
                <a:latin typeface="Bricolage Grotesque 36 Condensed Bold"/>
                <a:ea typeface="Bricolage Grotesque 36 Condensed Bold"/>
                <a:cs typeface="Bricolage Grotesque 36 Condensed Bold"/>
                <a:sym typeface="Bricolage Grotesque 36 Condensed Bold"/>
              </a:rPr>
              <a:t>KẾT LUẬN</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12544270" y="0"/>
            <a:ext cx="4715030" cy="4715030"/>
          </a:xfrm>
          <a:custGeom>
            <a:avLst/>
            <a:gdLst/>
            <a:ahLst/>
            <a:cxnLst/>
            <a:rect r="r" b="b" t="t" l="l"/>
            <a:pathLst>
              <a:path h="4715030" w="4715030">
                <a:moveTo>
                  <a:pt x="0" y="0"/>
                </a:moveTo>
                <a:lnTo>
                  <a:pt x="4715030" y="0"/>
                </a:lnTo>
                <a:lnTo>
                  <a:pt x="4715030" y="4715030"/>
                </a:lnTo>
                <a:lnTo>
                  <a:pt x="0" y="4715030"/>
                </a:lnTo>
                <a:lnTo>
                  <a:pt x="0" y="0"/>
                </a:lnTo>
                <a:close/>
              </a:path>
            </a:pathLst>
          </a:custGeom>
          <a:blipFill>
            <a:blip r:embed="rId2"/>
            <a:stretch>
              <a:fillRect l="0" t="0" r="0" b="0"/>
            </a:stretch>
          </a:blipFill>
        </p:spPr>
      </p:sp>
      <p:sp>
        <p:nvSpPr>
          <p:cNvPr name="Freeform 3" id="3"/>
          <p:cNvSpPr/>
          <p:nvPr/>
        </p:nvSpPr>
        <p:spPr>
          <a:xfrm flipH="false" flipV="false" rot="0">
            <a:off x="7116262" y="0"/>
            <a:ext cx="4715030" cy="4715030"/>
          </a:xfrm>
          <a:custGeom>
            <a:avLst/>
            <a:gdLst/>
            <a:ahLst/>
            <a:cxnLst/>
            <a:rect r="r" b="b" t="t" l="l"/>
            <a:pathLst>
              <a:path h="4715030" w="4715030">
                <a:moveTo>
                  <a:pt x="0" y="0"/>
                </a:moveTo>
                <a:lnTo>
                  <a:pt x="4715031" y="0"/>
                </a:lnTo>
                <a:lnTo>
                  <a:pt x="4715031" y="4715030"/>
                </a:lnTo>
                <a:lnTo>
                  <a:pt x="0" y="4715030"/>
                </a:lnTo>
                <a:lnTo>
                  <a:pt x="0" y="0"/>
                </a:lnTo>
                <a:close/>
              </a:path>
            </a:pathLst>
          </a:custGeom>
          <a:blipFill>
            <a:blip r:embed="rId3"/>
            <a:stretch>
              <a:fillRect l="0" t="0" r="0" b="0"/>
            </a:stretch>
          </a:blipFill>
        </p:spPr>
      </p:sp>
      <p:sp>
        <p:nvSpPr>
          <p:cNvPr name="Freeform 4" id="4"/>
          <p:cNvSpPr/>
          <p:nvPr/>
        </p:nvSpPr>
        <p:spPr>
          <a:xfrm flipH="false" flipV="false" rot="0">
            <a:off x="1358478" y="-164622"/>
            <a:ext cx="4879652" cy="4879652"/>
          </a:xfrm>
          <a:custGeom>
            <a:avLst/>
            <a:gdLst/>
            <a:ahLst/>
            <a:cxnLst/>
            <a:rect r="r" b="b" t="t" l="l"/>
            <a:pathLst>
              <a:path h="4879652" w="4879652">
                <a:moveTo>
                  <a:pt x="0" y="0"/>
                </a:moveTo>
                <a:lnTo>
                  <a:pt x="4879652" y="0"/>
                </a:lnTo>
                <a:lnTo>
                  <a:pt x="4879652" y="4879652"/>
                </a:lnTo>
                <a:lnTo>
                  <a:pt x="0" y="4879652"/>
                </a:lnTo>
                <a:lnTo>
                  <a:pt x="0" y="0"/>
                </a:lnTo>
                <a:close/>
              </a:path>
            </a:pathLst>
          </a:custGeom>
          <a:blipFill>
            <a:blip r:embed="rId4"/>
            <a:stretch>
              <a:fillRect l="0" t="0" r="0" b="0"/>
            </a:stretch>
          </a:blipFill>
        </p:spPr>
      </p:sp>
      <p:sp>
        <p:nvSpPr>
          <p:cNvPr name="TextBox 5" id="5"/>
          <p:cNvSpPr txBox="true"/>
          <p:nvPr/>
        </p:nvSpPr>
        <p:spPr>
          <a:xfrm rot="0">
            <a:off x="1028700" y="5331587"/>
            <a:ext cx="16230600" cy="3926713"/>
          </a:xfrm>
          <a:prstGeom prst="rect">
            <a:avLst/>
          </a:prstGeom>
        </p:spPr>
        <p:txBody>
          <a:bodyPr anchor="t" rtlCol="false" tIns="0" lIns="0" bIns="0" rIns="0">
            <a:spAutoFit/>
          </a:bodyPr>
          <a:lstStyle/>
          <a:p>
            <a:pPr algn="just">
              <a:lnSpc>
                <a:spcPts val="5158"/>
              </a:lnSpc>
              <a:spcBef>
                <a:spcPct val="0"/>
              </a:spcBef>
            </a:pPr>
            <a:r>
              <a:rPr lang="en-US" sz="4689" spc="-46">
                <a:solidFill>
                  <a:srgbClr val="000000"/>
                </a:solidFill>
                <a:latin typeface="Times New Roman"/>
                <a:ea typeface="Times New Roman"/>
                <a:cs typeface="Times New Roman"/>
                <a:sym typeface="Times New Roman"/>
              </a:rPr>
              <a:t>ZALO,</a:t>
            </a:r>
            <a:r>
              <a:rPr lang="en-US" sz="4689" spc="-46">
                <a:solidFill>
                  <a:srgbClr val="000000"/>
                </a:solidFill>
                <a:latin typeface="Times New Roman"/>
                <a:ea typeface="Times New Roman"/>
                <a:cs typeface="Times New Roman"/>
                <a:sym typeface="Times New Roman"/>
              </a:rPr>
              <a:t> MESSENGER VÀ DISCORD ĐỀU LÀ ỨNG DỤNG / DỊCH VỤ HỖ TRỢ GIAO TIẾP TRỰC TUYẾN NHƯNG PHỤC VỤ NHỮNG ƯU TIÊN KHÁC NHAU. ZALO NỔI BẬT TRONG LIÊN LẠC HẰNG NGÀY TẠI VIỆT NAM; MESSE</a:t>
            </a:r>
            <a:r>
              <a:rPr lang="en-US" sz="4689" spc="-46">
                <a:solidFill>
                  <a:srgbClr val="000000"/>
                </a:solidFill>
                <a:latin typeface="Times New Roman"/>
                <a:ea typeface="Times New Roman"/>
                <a:cs typeface="Times New Roman"/>
                <a:sym typeface="Times New Roman"/>
              </a:rPr>
              <a:t>nger thuận tiện cho người dùng đã kết nối qua Facebook; Discord phù hợp với cộng đồng cần tổ chức theo máy chủ, kênh và vai trò. Không có ứng dụng nào tốt nhất trong mọi tình huống.</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1187952" y="305787"/>
            <a:ext cx="4263605" cy="2842403"/>
          </a:xfrm>
          <a:custGeom>
            <a:avLst/>
            <a:gdLst/>
            <a:ahLst/>
            <a:cxnLst/>
            <a:rect r="r" b="b" t="t" l="l"/>
            <a:pathLst>
              <a:path h="2842403" w="4263605">
                <a:moveTo>
                  <a:pt x="0" y="0"/>
                </a:moveTo>
                <a:lnTo>
                  <a:pt x="4263606" y="0"/>
                </a:lnTo>
                <a:lnTo>
                  <a:pt x="4263606" y="2842404"/>
                </a:lnTo>
                <a:lnTo>
                  <a:pt x="0" y="2842404"/>
                </a:lnTo>
                <a:lnTo>
                  <a:pt x="0" y="0"/>
                </a:lnTo>
                <a:close/>
              </a:path>
            </a:pathLst>
          </a:custGeom>
          <a:blipFill>
            <a:blip r:embed="rId2"/>
            <a:stretch>
              <a:fillRect l="0" t="0" r="0" b="0"/>
            </a:stretch>
          </a:blipFill>
        </p:spPr>
      </p:sp>
      <p:sp>
        <p:nvSpPr>
          <p:cNvPr name="Freeform 3" id="3"/>
          <p:cNvSpPr/>
          <p:nvPr/>
        </p:nvSpPr>
        <p:spPr>
          <a:xfrm flipH="false" flipV="false" rot="0">
            <a:off x="4731214" y="8241070"/>
            <a:ext cx="2851368" cy="1604913"/>
          </a:xfrm>
          <a:custGeom>
            <a:avLst/>
            <a:gdLst/>
            <a:ahLst/>
            <a:cxnLst/>
            <a:rect r="r" b="b" t="t" l="l"/>
            <a:pathLst>
              <a:path h="1604913" w="2851368">
                <a:moveTo>
                  <a:pt x="0" y="0"/>
                </a:moveTo>
                <a:lnTo>
                  <a:pt x="2851368" y="0"/>
                </a:lnTo>
                <a:lnTo>
                  <a:pt x="2851368" y="1604912"/>
                </a:lnTo>
                <a:lnTo>
                  <a:pt x="0" y="1604912"/>
                </a:lnTo>
                <a:lnTo>
                  <a:pt x="0" y="0"/>
                </a:lnTo>
                <a:close/>
              </a:path>
            </a:pathLst>
          </a:custGeom>
          <a:blipFill>
            <a:blip r:embed="rId3"/>
            <a:stretch>
              <a:fillRect l="0" t="0" r="0" b="0"/>
            </a:stretch>
          </a:blipFill>
        </p:spPr>
      </p:sp>
      <p:sp>
        <p:nvSpPr>
          <p:cNvPr name="Freeform 4" id="4"/>
          <p:cNvSpPr/>
          <p:nvPr/>
        </p:nvSpPr>
        <p:spPr>
          <a:xfrm flipH="false" flipV="false" rot="0">
            <a:off x="14157193" y="155533"/>
            <a:ext cx="2468148" cy="2992657"/>
          </a:xfrm>
          <a:custGeom>
            <a:avLst/>
            <a:gdLst/>
            <a:ahLst/>
            <a:cxnLst/>
            <a:rect r="r" b="b" t="t" l="l"/>
            <a:pathLst>
              <a:path h="2992657" w="2468148">
                <a:moveTo>
                  <a:pt x="0" y="0"/>
                </a:moveTo>
                <a:lnTo>
                  <a:pt x="2468148" y="0"/>
                </a:lnTo>
                <a:lnTo>
                  <a:pt x="2468148" y="2992658"/>
                </a:lnTo>
                <a:lnTo>
                  <a:pt x="0" y="2992658"/>
                </a:lnTo>
                <a:lnTo>
                  <a:pt x="0" y="0"/>
                </a:lnTo>
                <a:close/>
              </a:path>
            </a:pathLst>
          </a:custGeom>
          <a:blipFill>
            <a:blip r:embed="rId4"/>
            <a:stretch>
              <a:fillRect l="-49056" t="0" r="-32820" b="0"/>
            </a:stretch>
          </a:blipFill>
        </p:spPr>
      </p:sp>
      <p:sp>
        <p:nvSpPr>
          <p:cNvPr name="Freeform 5" id="5"/>
          <p:cNvSpPr/>
          <p:nvPr/>
        </p:nvSpPr>
        <p:spPr>
          <a:xfrm flipH="false" flipV="false" rot="0">
            <a:off x="244246" y="6780804"/>
            <a:ext cx="3357488" cy="2184566"/>
          </a:xfrm>
          <a:custGeom>
            <a:avLst/>
            <a:gdLst/>
            <a:ahLst/>
            <a:cxnLst/>
            <a:rect r="r" b="b" t="t" l="l"/>
            <a:pathLst>
              <a:path h="2184566" w="3357488">
                <a:moveTo>
                  <a:pt x="0" y="0"/>
                </a:moveTo>
                <a:lnTo>
                  <a:pt x="3357488" y="0"/>
                </a:lnTo>
                <a:lnTo>
                  <a:pt x="3357488" y="2184567"/>
                </a:lnTo>
                <a:lnTo>
                  <a:pt x="0" y="2184567"/>
                </a:lnTo>
                <a:lnTo>
                  <a:pt x="0" y="0"/>
                </a:lnTo>
                <a:close/>
              </a:path>
            </a:pathLst>
          </a:custGeom>
          <a:blipFill>
            <a:blip r:embed="rId5"/>
            <a:stretch>
              <a:fillRect l="0" t="0" r="0" b="0"/>
            </a:stretch>
          </a:blipFill>
        </p:spPr>
      </p:sp>
      <p:sp>
        <p:nvSpPr>
          <p:cNvPr name="Freeform 6" id="6"/>
          <p:cNvSpPr/>
          <p:nvPr/>
        </p:nvSpPr>
        <p:spPr>
          <a:xfrm flipH="false" flipV="false" rot="0">
            <a:off x="15167746" y="4001101"/>
            <a:ext cx="3779575" cy="2627820"/>
          </a:xfrm>
          <a:custGeom>
            <a:avLst/>
            <a:gdLst/>
            <a:ahLst/>
            <a:cxnLst/>
            <a:rect r="r" b="b" t="t" l="l"/>
            <a:pathLst>
              <a:path h="2627820" w="3779575">
                <a:moveTo>
                  <a:pt x="0" y="0"/>
                </a:moveTo>
                <a:lnTo>
                  <a:pt x="3779575" y="0"/>
                </a:lnTo>
                <a:lnTo>
                  <a:pt x="3779575" y="2627820"/>
                </a:lnTo>
                <a:lnTo>
                  <a:pt x="0" y="2627820"/>
                </a:lnTo>
                <a:lnTo>
                  <a:pt x="0" y="0"/>
                </a:lnTo>
                <a:close/>
              </a:path>
            </a:pathLst>
          </a:custGeom>
          <a:blipFill>
            <a:blip r:embed="rId6"/>
            <a:stretch>
              <a:fillRect l="-11801" t="0" r="-11801" b="0"/>
            </a:stretch>
          </a:blipFill>
        </p:spPr>
      </p:sp>
      <p:sp>
        <p:nvSpPr>
          <p:cNvPr name="Freeform 7" id="7"/>
          <p:cNvSpPr/>
          <p:nvPr/>
        </p:nvSpPr>
        <p:spPr>
          <a:xfrm flipH="false" flipV="false" rot="0">
            <a:off x="9332412" y="7253407"/>
            <a:ext cx="3750416" cy="1875208"/>
          </a:xfrm>
          <a:custGeom>
            <a:avLst/>
            <a:gdLst/>
            <a:ahLst/>
            <a:cxnLst/>
            <a:rect r="r" b="b" t="t" l="l"/>
            <a:pathLst>
              <a:path h="1875208" w="3750416">
                <a:moveTo>
                  <a:pt x="0" y="0"/>
                </a:moveTo>
                <a:lnTo>
                  <a:pt x="3750416" y="0"/>
                </a:lnTo>
                <a:lnTo>
                  <a:pt x="3750416" y="1875208"/>
                </a:lnTo>
                <a:lnTo>
                  <a:pt x="0" y="1875208"/>
                </a:lnTo>
                <a:lnTo>
                  <a:pt x="0" y="0"/>
                </a:lnTo>
                <a:close/>
              </a:path>
            </a:pathLst>
          </a:custGeom>
          <a:blipFill>
            <a:blip r:embed="rId7"/>
            <a:stretch>
              <a:fillRect l="0" t="0" r="0" b="0"/>
            </a:stretch>
          </a:blipFill>
        </p:spPr>
      </p:sp>
      <p:sp>
        <p:nvSpPr>
          <p:cNvPr name="Freeform 8" id="8"/>
          <p:cNvSpPr/>
          <p:nvPr/>
        </p:nvSpPr>
        <p:spPr>
          <a:xfrm flipH="false" flipV="false" rot="0">
            <a:off x="8985881" y="828810"/>
            <a:ext cx="2467228" cy="1646104"/>
          </a:xfrm>
          <a:custGeom>
            <a:avLst/>
            <a:gdLst/>
            <a:ahLst/>
            <a:cxnLst/>
            <a:rect r="r" b="b" t="t" l="l"/>
            <a:pathLst>
              <a:path h="1646104" w="2467228">
                <a:moveTo>
                  <a:pt x="0" y="0"/>
                </a:moveTo>
                <a:lnTo>
                  <a:pt x="2467228" y="0"/>
                </a:lnTo>
                <a:lnTo>
                  <a:pt x="2467228" y="1646104"/>
                </a:lnTo>
                <a:lnTo>
                  <a:pt x="0" y="1646104"/>
                </a:lnTo>
                <a:lnTo>
                  <a:pt x="0" y="0"/>
                </a:lnTo>
                <a:close/>
              </a:path>
            </a:pathLst>
          </a:custGeom>
          <a:blipFill>
            <a:blip r:embed="rId8"/>
            <a:stretch>
              <a:fillRect l="0" t="0" r="0" b="0"/>
            </a:stretch>
          </a:blipFill>
        </p:spPr>
      </p:sp>
      <p:sp>
        <p:nvSpPr>
          <p:cNvPr name="TextBox 9" id="9"/>
          <p:cNvSpPr txBox="true"/>
          <p:nvPr/>
        </p:nvSpPr>
        <p:spPr>
          <a:xfrm rot="0">
            <a:off x="3657804" y="3808665"/>
            <a:ext cx="10972393" cy="3267006"/>
          </a:xfrm>
          <a:prstGeom prst="rect">
            <a:avLst/>
          </a:prstGeom>
        </p:spPr>
        <p:txBody>
          <a:bodyPr anchor="t" rtlCol="false" tIns="0" lIns="0" bIns="0" rIns="0">
            <a:spAutoFit/>
          </a:bodyPr>
          <a:lstStyle/>
          <a:p>
            <a:pPr algn="just">
              <a:lnSpc>
                <a:spcPts val="3679"/>
              </a:lnSpc>
              <a:spcBef>
                <a:spcPct val="0"/>
              </a:spcBef>
            </a:pPr>
            <a:r>
              <a:rPr lang="en-US" sz="3345" spc="-33">
                <a:solidFill>
                  <a:srgbClr val="000000"/>
                </a:solidFill>
                <a:latin typeface="Times New Roman"/>
                <a:ea typeface="Times New Roman"/>
                <a:cs typeface="Times New Roman"/>
                <a:sym typeface="Times New Roman"/>
              </a:rPr>
              <a:t>KẾT QUẢ SO</a:t>
            </a:r>
            <a:r>
              <a:rPr lang="en-US" sz="3345" spc="-33">
                <a:solidFill>
                  <a:srgbClr val="000000"/>
                </a:solidFill>
                <a:latin typeface="Times New Roman"/>
                <a:ea typeface="Times New Roman"/>
                <a:cs typeface="Times New Roman"/>
                <a:sym typeface="Times New Roman"/>
              </a:rPr>
              <a:t> SÁNH CHO THẤY LỰA CHỌN NÊN DỰA TRÊN NHU CẦU THỰC TẾ, THÓI QUEN CỦA BẢN THÂN VÀ NHỮNG NGƯỜI THAM GIA, KHẢ NĂNG QUẢN TRỊ NHÓM VÀ YÊU CẦU RIÊNG TƯ. BÊN CẠNH VIỆC CHỌ</a:t>
            </a:r>
            <a:r>
              <a:rPr lang="en-US" sz="3345" spc="-33">
                <a:solidFill>
                  <a:srgbClr val="000000"/>
                </a:solidFill>
                <a:latin typeface="Times New Roman"/>
                <a:ea typeface="Times New Roman"/>
                <a:cs typeface="Times New Roman"/>
                <a:sym typeface="Times New Roman"/>
              </a:rPr>
              <a:t>n đúng công cụ, người dùng cần xác minh danh tính, cẩn trọng với liên kết lạ, bảo vệ thông tin đăng nhập và cập nhật ứng dụng. Đây là những yếu tố quan trọng để giao tiếp trực tuyến hiệu quả và an toàn.</a:t>
            </a:r>
          </a:p>
          <a:p>
            <a:pPr algn="just">
              <a:lnSpc>
                <a:spcPts val="3679"/>
              </a:lnSpc>
              <a:spcBef>
                <a:spcPct val="0"/>
              </a:spcBef>
            </a:pPr>
          </a:p>
        </p:txBody>
      </p:sp>
      <p:sp>
        <p:nvSpPr>
          <p:cNvPr name="TextBox 10" id="10"/>
          <p:cNvSpPr txBox="true"/>
          <p:nvPr/>
        </p:nvSpPr>
        <p:spPr>
          <a:xfrm rot="0">
            <a:off x="4731214" y="9826932"/>
            <a:ext cx="2851368" cy="206886"/>
          </a:xfrm>
          <a:prstGeom prst="rect">
            <a:avLst/>
          </a:prstGeom>
        </p:spPr>
        <p:txBody>
          <a:bodyPr anchor="t" rtlCol="false" tIns="0" lIns="0" bIns="0" rIns="0">
            <a:spAutoFit/>
          </a:bodyPr>
          <a:lstStyle/>
          <a:p>
            <a:pPr algn="l">
              <a:lnSpc>
                <a:spcPts val="805"/>
              </a:lnSpc>
            </a:pPr>
            <a:r>
              <a:rPr lang="en-US" sz="575" u="sng">
                <a:solidFill>
                  <a:srgbClr val="000000"/>
                </a:solidFill>
                <a:latin typeface="Arimo"/>
                <a:ea typeface="Arimo"/>
                <a:cs typeface="Arimo"/>
                <a:sym typeface="Arimo"/>
                <a:hlinkClick r:id="rId9" tooltip="https://memoryzone.com.vn/discord-la-gi?srsltid=AU7gw4WfpaMqafvm1r5DtWADBKcQb9N8fl0kwQX0SwFVzLzG-7yEODwN"/>
              </a:rPr>
              <a:t>https://memoryzone.com.vn/discord-la-gi?srsltid=AU7gw4WfpaMqafvm1r5DtWADBKcQb9N8fl0kwQX0SwFVzLzG-7yEODwN</a:t>
            </a:r>
          </a:p>
        </p:txBody>
      </p:sp>
      <p:sp>
        <p:nvSpPr>
          <p:cNvPr name="TextBox 11" id="11"/>
          <p:cNvSpPr txBox="true"/>
          <p:nvPr/>
        </p:nvSpPr>
        <p:spPr>
          <a:xfrm rot="0">
            <a:off x="1187952" y="3110091"/>
            <a:ext cx="4263605" cy="208277"/>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Nguồn: Cyberbullying Research Center</a:t>
            </a:r>
          </a:p>
        </p:txBody>
      </p:sp>
      <p:sp>
        <p:nvSpPr>
          <p:cNvPr name="TextBox 12" id="12"/>
          <p:cNvSpPr txBox="true"/>
          <p:nvPr/>
        </p:nvSpPr>
        <p:spPr>
          <a:xfrm rot="0">
            <a:off x="14157193" y="3110091"/>
            <a:ext cx="2468148" cy="208277"/>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Nguồn: VOV</a:t>
            </a:r>
          </a:p>
        </p:txBody>
      </p:sp>
      <p:sp>
        <p:nvSpPr>
          <p:cNvPr name="TextBox 13" id="13"/>
          <p:cNvSpPr txBox="true"/>
          <p:nvPr/>
        </p:nvSpPr>
        <p:spPr>
          <a:xfrm rot="0">
            <a:off x="244246" y="8920337"/>
            <a:ext cx="3357488" cy="208277"/>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Nguồn: CafeF</a:t>
            </a:r>
          </a:p>
        </p:txBody>
      </p:sp>
      <p:sp>
        <p:nvSpPr>
          <p:cNvPr name="TextBox 14" id="14"/>
          <p:cNvSpPr txBox="true"/>
          <p:nvPr/>
        </p:nvSpPr>
        <p:spPr>
          <a:xfrm rot="0">
            <a:off x="15167746" y="6557603"/>
            <a:ext cx="3120254" cy="408302"/>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https://vnexpress.net/zalo-dat-hon-81-trieu-nguoi-dung-moi-thang-5104513.html</a:t>
            </a:r>
          </a:p>
        </p:txBody>
      </p:sp>
      <p:sp>
        <p:nvSpPr>
          <p:cNvPr name="TextBox 15" id="15"/>
          <p:cNvSpPr txBox="true"/>
          <p:nvPr/>
        </p:nvSpPr>
        <p:spPr>
          <a:xfrm rot="0">
            <a:off x="9332412" y="9090515"/>
            <a:ext cx="3750416" cy="608327"/>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https://dantri.com.vn/cong-nghe/soc-facebook-thua-nhan-theo-doi-tin-nhan-cuoc-thoai-nguoi-dung-tren-messenger-20180405151454581.htm</a:t>
            </a:r>
          </a:p>
        </p:txBody>
      </p:sp>
      <p:sp>
        <p:nvSpPr>
          <p:cNvPr name="TextBox 16" id="16"/>
          <p:cNvSpPr txBox="true"/>
          <p:nvPr/>
        </p:nvSpPr>
        <p:spPr>
          <a:xfrm rot="0">
            <a:off x="8985881" y="2436814"/>
            <a:ext cx="2467228" cy="808352"/>
          </a:xfrm>
          <a:prstGeom prst="rect">
            <a:avLst/>
          </a:prstGeom>
        </p:spPr>
        <p:txBody>
          <a:bodyPr anchor="t" rtlCol="false" tIns="0" lIns="0" bIns="0" rIns="0">
            <a:spAutoFit/>
          </a:bodyPr>
          <a:lstStyle/>
          <a:p>
            <a:pPr algn="l">
              <a:lnSpc>
                <a:spcPts val="1645"/>
              </a:lnSpc>
            </a:pPr>
            <a:r>
              <a:rPr lang="en-US" sz="1175" u="sng">
                <a:solidFill>
                  <a:srgbClr val="000000"/>
                </a:solidFill>
                <a:latin typeface="Arimo"/>
                <a:ea typeface="Arimo"/>
                <a:cs typeface="Arimo"/>
                <a:sym typeface="Arimo"/>
              </a:rPr>
              <a:t>https://marketingai.vn/zalo-va-facebook-messenger-ai-chien-thang-trong-trai-tim-nguoi-dung-1945253.htm</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1028700"/>
          <a:ext cx="15087600" cy="4400550"/>
        </p:xfrm>
        <a:graphic>
          <a:graphicData uri="http://schemas.openxmlformats.org/presentationml/2006/ole">
            <p:oleObj imgW="18097500" imgH="7416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311814"/>
            <a:ext cx="16230600" cy="568571"/>
          </a:xfrm>
          <a:prstGeom prst="rect">
            <a:avLst/>
          </a:prstGeom>
        </p:spPr>
        <p:txBody>
          <a:bodyPr anchor="t" rtlCol="false" tIns="0" lIns="0" bIns="0" rIns="0">
            <a:spAutoFit/>
          </a:bodyPr>
          <a:lstStyle/>
          <a:p>
            <a:pPr algn="ctr">
              <a:lnSpc>
                <a:spcPts val="4383"/>
              </a:lnSpc>
              <a:spcBef>
                <a:spcPct val="0"/>
              </a:spcBef>
            </a:pPr>
            <a:r>
              <a:rPr lang="en-US" b="true" sz="3985" spc="-39">
                <a:solidFill>
                  <a:srgbClr val="000000"/>
                </a:solidFill>
                <a:latin typeface="Comic Sans Bold"/>
                <a:ea typeface="Comic Sans Bold"/>
                <a:cs typeface="Comic Sans Bold"/>
                <a:sym typeface="Comic Sans Bold"/>
              </a:rPr>
              <a:t>CRAAP</a:t>
            </a:r>
            <a:r>
              <a:rPr lang="en-US" b="true" sz="3985" spc="-39">
                <a:solidFill>
                  <a:srgbClr val="000000"/>
                </a:solidFill>
                <a:latin typeface="Comic Sans Bold"/>
                <a:ea typeface="Comic Sans Bold"/>
                <a:cs typeface="Comic Sans Bold"/>
                <a:sym typeface="Comic Sans Bold"/>
              </a:rPr>
              <a:t> CÁC NGUỒN THÔNG TIN NHÓM EM SỬ DỤNG</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CEB"/>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8279668"/>
          </a:xfrm>
          <a:custGeom>
            <a:avLst/>
            <a:gdLst/>
            <a:ahLst/>
            <a:cxnLst/>
            <a:rect r="r" b="b" t="t" l="l"/>
            <a:pathLst>
              <a:path h="8279668" w="18288000">
                <a:moveTo>
                  <a:pt x="0" y="0"/>
                </a:moveTo>
                <a:lnTo>
                  <a:pt x="18288000" y="0"/>
                </a:lnTo>
                <a:lnTo>
                  <a:pt x="18288000" y="8279668"/>
                </a:lnTo>
                <a:lnTo>
                  <a:pt x="0" y="8279668"/>
                </a:lnTo>
                <a:lnTo>
                  <a:pt x="0" y="0"/>
                </a:lnTo>
                <a:close/>
              </a:path>
            </a:pathLst>
          </a:custGeom>
          <a:blipFill>
            <a:blip r:embed="rId2"/>
            <a:stretch>
              <a:fillRect l="0" t="-20937" r="0" b="-26171"/>
            </a:stretch>
          </a:blipFill>
        </p:spPr>
      </p:sp>
      <p:sp>
        <p:nvSpPr>
          <p:cNvPr name="TextBox 3" id="3"/>
          <p:cNvSpPr txBox="true"/>
          <p:nvPr/>
        </p:nvSpPr>
        <p:spPr>
          <a:xfrm rot="0">
            <a:off x="0" y="8223145"/>
            <a:ext cx="18288000" cy="1851235"/>
          </a:xfrm>
          <a:prstGeom prst="rect">
            <a:avLst/>
          </a:prstGeom>
        </p:spPr>
        <p:txBody>
          <a:bodyPr anchor="t" rtlCol="false" tIns="0" lIns="0" bIns="0" rIns="0">
            <a:spAutoFit/>
          </a:bodyPr>
          <a:lstStyle/>
          <a:p>
            <a:pPr algn="ctr">
              <a:lnSpc>
                <a:spcPts val="15038"/>
              </a:lnSpc>
            </a:pPr>
            <a:r>
              <a:rPr lang="en-US" b="true" sz="10741" spc="-107">
                <a:solidFill>
                  <a:srgbClr val="000000"/>
                </a:solidFill>
                <a:latin typeface="Bricolage Grotesque 36 Condensed Bold"/>
                <a:ea typeface="Bricolage Grotesque 36 Condensed Bold"/>
                <a:cs typeface="Bricolage Grotesque 36 Condensed Bold"/>
                <a:sym typeface="Bricolage Grotesque 36 Condensed Bold"/>
              </a:rPr>
              <a:t>CẢM ƠN THẦY VÀ CÁC BẠN ĐÃ LẮNG NGHE!</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DAHYMmqaFic</dc:identifier>
  <dcterms:modified xsi:type="dcterms:W3CDTF">2011-08-01T06:04:30Z</dcterms:modified>
  <cp:revision>1</cp:revision>
  <dc:title>Bài Thuyết Trình Đen Kem Chủ Đề Lịch Sử Mỹ Thuật Thế Giới Trường Phái Ấn Tượng</dc:title>
</cp:coreProperties>
</file>